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 id="267" r:id="rId15"/>
    <p:sldId id="275" r:id="rId16"/>
    <p:sldId id="271" r:id="rId17"/>
    <p:sldId id="276" r:id="rId18"/>
    <p:sldId id="272" r:id="rId19"/>
    <p:sldId id="277" r:id="rId20"/>
    <p:sldId id="273" r:id="rId21"/>
    <p:sldId id="274"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3111" autoAdjust="0"/>
  </p:normalViewPr>
  <p:slideViewPr>
    <p:cSldViewPr snapToGrid="0">
      <p:cViewPr varScale="1">
        <p:scale>
          <a:sx n="17" d="100"/>
          <a:sy n="17" d="100"/>
        </p:scale>
        <p:origin x="2540" y="1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881149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797629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86"/>
          <p:cNvSpPr>
            <a:spLocks noGrp="1" noRot="1" noChangeAspect="1"/>
          </p:cNvSpPr>
          <p:nvPr>
            <p:ph type="sldImg"/>
          </p:nvPr>
        </p:nvSpPr>
        <p:spPr>
          <a:prstGeom prst="rect">
            <a:avLst/>
          </a:prstGeom>
        </p:spPr>
        <p:txBody>
          <a:bodyPr/>
          <a:lstStyle/>
          <a:p>
            <a:endParaRPr/>
          </a:p>
        </p:txBody>
      </p:sp>
      <p:sp>
        <p:nvSpPr>
          <p:cNvPr id="87" name="Shape 87"/>
          <p:cNvSpPr>
            <a:spLocks noGrp="1"/>
          </p:cNvSpPr>
          <p:nvPr>
            <p:ph type="body" sz="quarter" idx="1"/>
          </p:nvPr>
        </p:nvSpPr>
        <p:spPr>
          <a:prstGeom prst="rect">
            <a:avLst/>
          </a:prstGeom>
        </p:spPr>
        <p:txBody>
          <a:bodyPr/>
          <a:lstStyle/>
          <a:p>
            <a:r>
              <a:t>Здесь я объясняю проблему: гипертония — частая и опасная, потому что долго может оставаться незамеченной.</a:t>
            </a:r>
          </a:p>
          <a:p>
            <a:r>
              <a:t>Цель — не просто построить графики, а понять динамику, различия между мужчинами и женщинами и связать показатели с факторами риска и смертностью.</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hape 98"/>
          <p:cNvSpPr>
            <a:spLocks noGrp="1" noRot="1" noChangeAspect="1"/>
          </p:cNvSpPr>
          <p:nvPr>
            <p:ph type="sldImg"/>
          </p:nvPr>
        </p:nvSpPr>
        <p:spPr>
          <a:prstGeom prst="rect">
            <a:avLst/>
          </a:prstGeom>
        </p:spPr>
        <p:txBody>
          <a:bodyPr/>
          <a:lstStyle/>
          <a:p>
            <a:endParaRPr/>
          </a:p>
        </p:txBody>
      </p:sp>
      <p:sp>
        <p:nvSpPr>
          <p:cNvPr id="99" name="Shape 99"/>
          <p:cNvSpPr>
            <a:spLocks noGrp="1"/>
          </p:cNvSpPr>
          <p:nvPr>
            <p:ph type="body" sz="quarter" idx="1"/>
          </p:nvPr>
        </p:nvSpPr>
        <p:spPr>
          <a:prstGeom prst="rect">
            <a:avLst/>
          </a:prstGeom>
        </p:spPr>
        <p:txBody>
          <a:bodyPr/>
          <a:lstStyle/>
          <a:p>
            <a:r>
              <a:t>Die Forschungsfragen bilden die Struktur der Präsentation.</a:t>
            </a:r>
          </a:p>
          <a:p>
            <a:r>
              <a:t>Jede Frage wird später mit einem bestimmten Analyse- oder Visualisierungsschritt beantwortet.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Shape 127"/>
          <p:cNvSpPr>
            <a:spLocks noGrp="1" noRot="1" noChangeAspect="1"/>
          </p:cNvSpPr>
          <p:nvPr>
            <p:ph type="sldImg"/>
          </p:nvPr>
        </p:nvSpPr>
        <p:spPr>
          <a:prstGeom prst="rect">
            <a:avLst/>
          </a:prstGeom>
        </p:spPr>
        <p:txBody>
          <a:bodyPr/>
          <a:lstStyle/>
          <a:p>
            <a:endParaRPr/>
          </a:p>
        </p:txBody>
      </p:sp>
      <p:sp>
        <p:nvSpPr>
          <p:cNvPr id="128" name="Shape 128"/>
          <p:cNvSpPr>
            <a:spLocks noGrp="1"/>
          </p:cNvSpPr>
          <p:nvPr>
            <p:ph type="body" sz="quarter" idx="1"/>
          </p:nvPr>
        </p:nvSpPr>
        <p:spPr>
          <a:prstGeom prst="rect">
            <a:avLst/>
          </a:prstGeom>
        </p:spPr>
        <p:txBody>
          <a:bodyPr/>
          <a:lstStyle/>
          <a:p>
            <a:r>
              <a:t>Этот слайд — обзор всей моей работы.</a:t>
            </a:r>
          </a:p>
          <a:p>
            <a:r>
              <a:t>Сначала я искала подходящие WHO-индикаторы, потом фильтровала данные, объединяла таблицы, делала анализ и только после этого строила dashboard.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noRot="1" noChangeAspect="1"/>
          </p:cNvSpPr>
          <p:nvPr>
            <p:ph type="sldImg"/>
          </p:nvPr>
        </p:nvSpPr>
        <p:spPr>
          <a:xfrm>
            <a:off x="381000" y="685800"/>
            <a:ext cx="6096000" cy="3429000"/>
          </a:xfrm>
          <a:prstGeom prst="rect">
            <a:avLst/>
          </a:prstGeom>
        </p:spPr>
        <p:txBody>
          <a:bodyPr/>
          <a:lstStyle/>
          <a:p>
            <a:endParaRPr/>
          </a:p>
        </p:txBody>
      </p:sp>
      <p:sp>
        <p:nvSpPr>
          <p:cNvPr id="151" name="Shape 151"/>
          <p:cNvSpPr>
            <a:spLocks noGrp="1"/>
          </p:cNvSpPr>
          <p:nvPr>
            <p:ph type="body" sz="quarter" idx="1"/>
          </p:nvPr>
        </p:nvSpPr>
        <p:spPr>
          <a:prstGeom prst="rect">
            <a:avLst/>
          </a:prstGeom>
        </p:spPr>
        <p:txBody>
          <a:bodyPr/>
          <a:lstStyle/>
          <a:p>
            <a:r>
              <a:rPr dirty="0"/>
              <a:t>Я </a:t>
            </a:r>
            <a:r>
              <a:rPr dirty="0" err="1"/>
              <a:t>объясняю</a:t>
            </a:r>
            <a:r>
              <a:rPr dirty="0"/>
              <a:t>, </a:t>
            </a:r>
            <a:r>
              <a:rPr dirty="0" err="1"/>
              <a:t>как</a:t>
            </a:r>
            <a:r>
              <a:rPr dirty="0"/>
              <a:t> </a:t>
            </a:r>
            <a:r>
              <a:rPr dirty="0" err="1"/>
              <a:t>исследовательские</a:t>
            </a:r>
            <a:r>
              <a:rPr dirty="0"/>
              <a:t> </a:t>
            </a:r>
            <a:r>
              <a:rPr dirty="0" err="1"/>
              <a:t>вопросы</a:t>
            </a:r>
            <a:r>
              <a:rPr dirty="0"/>
              <a:t> </a:t>
            </a:r>
            <a:r>
              <a:rPr dirty="0" err="1"/>
              <a:t>превратились</a:t>
            </a:r>
            <a:r>
              <a:rPr dirty="0"/>
              <a:t> в </a:t>
            </a:r>
            <a:r>
              <a:rPr dirty="0" err="1"/>
              <a:t>конкретные</a:t>
            </a:r>
            <a:r>
              <a:rPr dirty="0"/>
              <a:t> </a:t>
            </a:r>
            <a:r>
              <a:rPr dirty="0" err="1"/>
              <a:t>графики</a:t>
            </a:r>
            <a:r>
              <a:rPr dirty="0"/>
              <a:t>.</a:t>
            </a:r>
          </a:p>
          <a:p>
            <a:r>
              <a:rPr dirty="0" err="1"/>
              <a:t>Также</a:t>
            </a:r>
            <a:r>
              <a:rPr dirty="0"/>
              <a:t> </a:t>
            </a:r>
            <a:r>
              <a:rPr dirty="0" err="1"/>
              <a:t>можно</a:t>
            </a:r>
            <a:r>
              <a:rPr dirty="0"/>
              <a:t> </a:t>
            </a:r>
            <a:r>
              <a:rPr dirty="0" err="1"/>
              <a:t>сказать</a:t>
            </a:r>
            <a:r>
              <a:rPr dirty="0"/>
              <a:t>, </a:t>
            </a:r>
            <a:r>
              <a:rPr dirty="0" err="1"/>
              <a:t>что</a:t>
            </a:r>
            <a:r>
              <a:rPr dirty="0"/>
              <a:t> в </a:t>
            </a:r>
            <a:r>
              <a:rPr dirty="0" err="1"/>
              <a:t>дашборде</a:t>
            </a:r>
            <a:r>
              <a:rPr dirty="0"/>
              <a:t> я </a:t>
            </a:r>
            <a:r>
              <a:rPr dirty="0" err="1"/>
              <a:t>убрала</a:t>
            </a:r>
            <a:r>
              <a:rPr dirty="0"/>
              <a:t> </a:t>
            </a:r>
            <a:r>
              <a:rPr dirty="0" err="1"/>
              <a:t>лишние</a:t>
            </a:r>
            <a:r>
              <a:rPr dirty="0"/>
              <a:t> </a:t>
            </a:r>
            <a:r>
              <a:rPr dirty="0" err="1"/>
              <a:t>подписи</a:t>
            </a:r>
            <a:r>
              <a:rPr dirty="0"/>
              <a:t> </a:t>
            </a:r>
            <a:r>
              <a:rPr dirty="0" err="1"/>
              <a:t>осей</a:t>
            </a:r>
            <a:r>
              <a:rPr dirty="0"/>
              <a:t> и </a:t>
            </a:r>
            <a:r>
              <a:rPr dirty="0" err="1"/>
              <a:t>повторяющиеся</a:t>
            </a:r>
            <a:r>
              <a:rPr dirty="0"/>
              <a:t> </a:t>
            </a:r>
            <a:r>
              <a:rPr dirty="0" err="1"/>
              <a:t>подзаголовки</a:t>
            </a:r>
            <a:r>
              <a:rPr dirty="0"/>
              <a:t>, </a:t>
            </a:r>
            <a:r>
              <a:rPr dirty="0" err="1"/>
              <a:t>потому</a:t>
            </a:r>
            <a:r>
              <a:rPr dirty="0"/>
              <a:t> </a:t>
            </a:r>
            <a:r>
              <a:rPr dirty="0" err="1"/>
              <a:t>что</a:t>
            </a:r>
            <a:r>
              <a:rPr dirty="0"/>
              <a:t> </a:t>
            </a:r>
            <a:r>
              <a:rPr dirty="0" err="1"/>
              <a:t>информация</a:t>
            </a:r>
            <a:r>
              <a:rPr dirty="0"/>
              <a:t> </a:t>
            </a:r>
            <a:r>
              <a:rPr dirty="0" err="1"/>
              <a:t>уже</a:t>
            </a:r>
            <a:r>
              <a:rPr dirty="0"/>
              <a:t> </a:t>
            </a:r>
            <a:r>
              <a:rPr dirty="0" err="1"/>
              <a:t>есть</a:t>
            </a:r>
            <a:r>
              <a:rPr dirty="0"/>
              <a:t> в </a:t>
            </a:r>
            <a:r>
              <a:rPr dirty="0" err="1"/>
              <a:t>заголовке</a:t>
            </a:r>
            <a:r>
              <a:rPr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prstGeom prst="rect">
            <a:avLst/>
          </a:prstGeom>
        </p:spPr>
        <p:txBody>
          <a:bodyPr/>
          <a:lstStyle/>
          <a:p>
            <a:endParaRPr/>
          </a:p>
        </p:txBody>
      </p:sp>
      <p:sp>
        <p:nvSpPr>
          <p:cNvPr id="167" name="Shape 167"/>
          <p:cNvSpPr>
            <a:spLocks noGrp="1"/>
          </p:cNvSpPr>
          <p:nvPr>
            <p:ph type="body" sz="quarter" idx="1"/>
          </p:nvPr>
        </p:nvSpPr>
        <p:spPr>
          <a:prstGeom prst="rect">
            <a:avLst/>
          </a:prstGeom>
        </p:spPr>
        <p:txBody>
          <a:bodyPr/>
          <a:lstStyle/>
          <a:p>
            <a:r>
              <a:t>Финальный слайд — короткое резюме.</a:t>
            </a:r>
          </a:p>
          <a:p>
            <a:r>
              <a:t>Важно подчеркнуть, что моя работа была не только в построении графиков, но и в подготовке данных и создании понятного дашборда.</a:t>
            </a:r>
          </a:p>
          <a:p>
            <a:r>
              <a:t>В конце можно сказать: для более глубокой причинной интерпретации нужна дальнейшая статистическая модель.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737935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Ein weiteres Ziel unseres Projekts war es, ein ML-basiertes Modell zur Hypertonie-Risikoeinschätzung zu entwickeln. Dabei wollten wir den Hypertonie-Status einzelner Personen anhand wichtiger Gesundheits- und Lebensstilmerkmale klassifizieren und anschließend prüfen, welche Features die Vorhersage am stärksten beeinflussen.</a:t>
            </a:r>
          </a:p>
        </p:txBody>
      </p:sp>
    </p:spTree>
    <p:extLst>
      <p:ext uri="{BB962C8B-B14F-4D97-AF65-F5344CB8AC3E}">
        <p14:creationId xmlns:p14="http://schemas.microsoft.com/office/powerpoint/2010/main" val="1316362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Nach dem WHO-Teil wollten wir von der Bevölkerungsebene auf die individuelle Ebene wechseln.</a:t>
            </a:r>
          </a:p>
          <a:p>
            <a:r>
              <a:rPr lang="de-DE" dirty="0"/>
              <a:t>Unser Ziel war es, eine ML-basierte Risikoeinschätzung für Hypertonie zu entwickeln. Dafür brauchten wir Daten auf Personenebene, weil WHO-Daten nur aggregierte Informationen liefern.</a:t>
            </a:r>
          </a:p>
          <a:p>
            <a:endParaRPr lang="de-DE" dirty="0"/>
          </a:p>
          <a:p>
            <a:endParaRPr lang="de-DE" dirty="0"/>
          </a:p>
        </p:txBody>
      </p:sp>
    </p:spTree>
    <p:extLst>
      <p:ext uri="{BB962C8B-B14F-4D97-AF65-F5344CB8AC3E}">
        <p14:creationId xmlns:p14="http://schemas.microsoft.com/office/powerpoint/2010/main" val="1127586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4276446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Nachdem klar war, dass wir mit NHANES-Daten arbeiten, mussten wir entscheiden, welche Variablen für unser Modell relevant sind.</a:t>
            </a:r>
          </a:p>
          <a:p>
            <a:r>
              <a:rPr lang="de-DE" dirty="0"/>
              <a:t>Dafür haben wir uns zunächst bekannte Risikofaktoren für Hypertonie angeschaut. Die Abbildung zeigt zum Beispiel Alter, Übergewicht, Rauchen, Bewegungsmangel und Alkoholkonsum.</a:t>
            </a:r>
          </a:p>
          <a:p>
            <a:r>
              <a:rPr lang="de-DE" dirty="0"/>
              <a:t>Danach haben wir geprüft, welche dieser Faktoren in NHANES abgebildet sind und für unsere Analyse genutzt werden können.</a:t>
            </a:r>
          </a:p>
          <a:p>
            <a:endParaRPr lang="de-DE" dirty="0"/>
          </a:p>
        </p:txBody>
      </p:sp>
    </p:spTree>
    <p:extLst>
      <p:ext uri="{BB962C8B-B14F-4D97-AF65-F5344CB8AC3E}">
        <p14:creationId xmlns:p14="http://schemas.microsoft.com/office/powerpoint/2010/main" val="3190835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Diese Folie zeigt den Ablauf unseres NHANES-Analyse-Teils.</a:t>
            </a:r>
          </a:p>
          <a:p>
            <a:r>
              <a:rPr lang="de-DE" dirty="0"/>
              <a:t>Im ersten Schritt haben wir den Datensatz aufgebaut. Dafür wurden die relevanten NHANES-Dateien über die Personen-ID zusammengeführt. So entstand ein personenbezogener Datensatz für die weitere Analyse.</a:t>
            </a:r>
          </a:p>
          <a:p>
            <a:endParaRPr lang="de-DE" dirty="0"/>
          </a:p>
          <a:p>
            <a:r>
              <a:rPr lang="de-DE" dirty="0"/>
              <a:t>Im zweiten Schritt folgten Datenbereinigung und EDA. Dabei haben wir die Zielvariable Hypertonie ja/nein vorbereitet, fehlende Werte behandelt und erste Verteilungen sowie Gruppenunterschiede untersucht.: </a:t>
            </a:r>
          </a:p>
          <a:p>
            <a:endParaRPr lang="de-DE" dirty="0"/>
          </a:p>
          <a:p>
            <a:r>
              <a:rPr lang="de-DE" dirty="0"/>
              <a:t>Eine besondere Herausforderung lag bei der Datenbereinigung. Fehlende Werte konnten nicht überall gleich behandelt werden. Besonders bei Rauchen und Alkoholkonsum entstanden einige fehlende Angaben durch die Fragebogenlogik. Das heißt, bestimmte Fragen wurden nur gestellt, wenn sie für die Person relevant waren.</a:t>
            </a:r>
          </a:p>
          <a:p>
            <a:r>
              <a:rPr lang="de-DE" dirty="0"/>
              <a:t>Deshalb haben wir </a:t>
            </a:r>
            <a:r>
              <a:rPr lang="de-DE" dirty="0" err="1"/>
              <a:t>Missing</a:t>
            </a:r>
            <a:r>
              <a:rPr lang="de-DE" dirty="0"/>
              <a:t> Values nicht pauschal gelöscht, sondern variablenspezifisch behandelt. So konnten wir vermeiden, dass wichtige Informationen verloren gehen oder falsch interpretiert werden.</a:t>
            </a:r>
          </a:p>
          <a:p>
            <a:endParaRPr lang="de-DE" dirty="0"/>
          </a:p>
          <a:p>
            <a:r>
              <a:rPr lang="de-DE" dirty="0"/>
              <a:t>Im dritten Schritt kam die Modellierung. Dafür wurden Features und Zielvariable getrennt, ein Train-Test-Split durchgeführt und verschiedene Modelle getestet: logistische Regression, Random Forest und </a:t>
            </a:r>
            <a:r>
              <a:rPr lang="de-DE" dirty="0" err="1"/>
              <a:t>Decision</a:t>
            </a:r>
            <a:r>
              <a:rPr lang="de-DE" dirty="0"/>
              <a:t> Tree.</a:t>
            </a:r>
          </a:p>
          <a:p>
            <a:r>
              <a:rPr lang="de-DE" dirty="0"/>
              <a:t>Im letzten Schritt haben wir das finale Modell interpretiert. Dafür wurde die Feature </a:t>
            </a:r>
            <a:r>
              <a:rPr lang="de-DE" dirty="0" err="1"/>
              <a:t>Importance</a:t>
            </a:r>
            <a:r>
              <a:rPr lang="de-DE" dirty="0"/>
              <a:t> analysiert, um zu verstehen, welche Merkmale besonders stark zur Hypertonie-Vorhersage beigetragen haben.</a:t>
            </a:r>
          </a:p>
          <a:p>
            <a:endParaRPr lang="de-DE" dirty="0"/>
          </a:p>
        </p:txBody>
      </p:sp>
    </p:spTree>
    <p:extLst>
      <p:ext uri="{BB962C8B-B14F-4D97-AF65-F5344CB8AC3E}">
        <p14:creationId xmlns:p14="http://schemas.microsoft.com/office/powerpoint/2010/main" val="2520040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4248975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de-DE" dirty="0"/>
              <a:t>Die Feature-</a:t>
            </a:r>
            <a:r>
              <a:rPr lang="de-DE" dirty="0" err="1"/>
              <a:t>Importance</a:t>
            </a:r>
            <a:r>
              <a:rPr lang="de-DE" dirty="0"/>
              <a:t>-Analyse zeigte, dass vor allem Alter, BMI und erhöhter Cholesterinstatus die Vorhersage beeinflusst haben. Das heißt: Diese Merkmale haben im logistischen Regressionsmodell am stärksten dazu beigetragen, ob eine Person eher der Klasse Hypertonie oder Nicht-Hypertonie zugeordnet wurde.</a:t>
            </a:r>
          </a:p>
          <a:p>
            <a:r>
              <a:rPr lang="de-DE" dirty="0"/>
              <a:t>„Das sind modellbasierte Zusammenhänge, keine kausalen Aussagen</a:t>
            </a:r>
          </a:p>
          <a:p>
            <a:endParaRPr lang="de-DE" dirty="0"/>
          </a:p>
        </p:txBody>
      </p:sp>
    </p:spTree>
    <p:extLst>
      <p:ext uri="{BB962C8B-B14F-4D97-AF65-F5344CB8AC3E}">
        <p14:creationId xmlns:p14="http://schemas.microsoft.com/office/powerpoint/2010/main" val="1036534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C91A-C028-B2EF-ECF8-356C614F6D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C0A3DA-D042-D58B-B5B9-1518CB3EA7D0}"/>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576ADF60-5BBF-646D-2EE0-41B7F5150E5D}"/>
              </a:ext>
            </a:extLst>
          </p:cNvPr>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686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MASTER">
    <p:bg>
      <p:bgPr>
        <a:solidFill>
          <a:srgbClr val="F7FAFC"/>
        </a:solidFill>
        <a:effectLst/>
      </p:bgPr>
    </p:bg>
    <p:spTree>
      <p:nvGrpSpPr>
        <p:cNvPr id="1" name=""/>
        <p:cNvGrpSpPr/>
        <p:nvPr/>
      </p:nvGrpSpPr>
      <p:grpSpPr>
        <a:xfrm>
          <a:off x="0" y="0"/>
          <a:ext cx="0" cy="0"/>
          <a:chOff x="0" y="0"/>
          <a:chExt cx="0" cy="0"/>
        </a:xfrm>
      </p:grpSpPr>
      <p:sp>
        <p:nvSpPr>
          <p:cNvPr id="18" name="Shape 0"/>
          <p:cNvSpPr/>
          <p:nvPr/>
        </p:nvSpPr>
        <p:spPr>
          <a:xfrm>
            <a:off x="-1" y="0"/>
            <a:ext cx="12191697" cy="6858000"/>
          </a:xfrm>
          <a:prstGeom prst="rect">
            <a:avLst/>
          </a:prstGeom>
          <a:solidFill>
            <a:srgbClr val="F7FAFC"/>
          </a:solidFill>
          <a:ln w="12700">
            <a:solidFill>
              <a:srgbClr val="F7FAFC">
                <a:alpha val="0"/>
              </a:srgbClr>
            </a:solidFill>
          </a:ln>
        </p:spPr>
        <p:txBody>
          <a:bodyPr lIns="45719" rIns="45719"/>
          <a:lstStyle/>
          <a:p>
            <a:endParaRPr/>
          </a:p>
        </p:txBody>
      </p:sp>
      <p:sp>
        <p:nvSpPr>
          <p:cNvPr id="19" name="Shape 1"/>
          <p:cNvSpPr/>
          <p:nvPr/>
        </p:nvSpPr>
        <p:spPr>
          <a:xfrm>
            <a:off x="658368" y="6355079"/>
            <a:ext cx="10881360" cy="1"/>
          </a:xfrm>
          <a:prstGeom prst="line">
            <a:avLst/>
          </a:prstGeom>
          <a:ln>
            <a:solidFill>
              <a:srgbClr val="DDE7F0"/>
            </a:solidFill>
          </a:ln>
        </p:spPr>
        <p:txBody>
          <a:bodyPr lIns="45719" rIns="45719"/>
          <a:lstStyle/>
          <a:p>
            <a:endParaRPr/>
          </a:p>
        </p:txBody>
      </p:sp>
      <p:sp>
        <p:nvSpPr>
          <p:cNvPr id="20" name="Text 2"/>
          <p:cNvSpPr txBox="1"/>
          <p:nvPr/>
        </p:nvSpPr>
        <p:spPr>
          <a:xfrm>
            <a:off x="704087" y="6479260"/>
            <a:ext cx="7406641" cy="190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a:solidFill>
                  <a:srgbClr val="68798A"/>
                </a:solidFill>
              </a:defRPr>
            </a:lvl1pPr>
          </a:lstStyle>
          <a:p>
            <a:r>
              <a:t>Abschlussprojekt · Data Science</a:t>
            </a:r>
          </a:p>
        </p:txBody>
      </p:sp>
      <p:sp>
        <p:nvSpPr>
          <p:cNvPr id="21" name="Foliennummer"/>
          <p:cNvSpPr txBox="1">
            <a:spLocks noGrp="1"/>
          </p:cNvSpPr>
          <p:nvPr>
            <p:ph type="sldNum" sz="quarter" idx="2"/>
          </p:nvPr>
        </p:nvSpPr>
        <p:spPr>
          <a:xfrm>
            <a:off x="11567159" y="6473952"/>
            <a:ext cx="202998" cy="190551"/>
          </a:xfrm>
          <a:prstGeom prst="rect">
            <a:avLst/>
          </a:prstGeom>
        </p:spPr>
        <p:txBody>
          <a:bodyPr/>
          <a:lstStyle/>
          <a:p>
            <a:fld id="{86CB4B4D-7CA3-9044-876B-883B54F8677D}" type="slidenum">
              <a:t>‹Nr.›</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Titeltext</a:t>
            </a:r>
          </a:p>
        </p:txBody>
      </p:sp>
      <p:sp>
        <p:nvSpPr>
          <p:cNvPr id="3" name="Textebene 1…"/>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Textebene 1</a:t>
            </a:r>
          </a:p>
          <a:p>
            <a:pPr lvl="1"/>
            <a:r>
              <a:t>Textebene 2</a:t>
            </a:r>
          </a:p>
          <a:p>
            <a:pPr lvl="2"/>
            <a:r>
              <a:t>Textebene 3</a:t>
            </a:r>
          </a:p>
          <a:p>
            <a:pPr lvl="3"/>
            <a:r>
              <a:t>Textebene 4</a:t>
            </a:r>
          </a:p>
          <a:p>
            <a:pPr lvl="4"/>
            <a:r>
              <a:t>Textebene 5</a:t>
            </a:r>
          </a:p>
        </p:txBody>
      </p:sp>
      <p:sp>
        <p:nvSpPr>
          <p:cNvPr id="4" name="Foliennummer"/>
          <p:cNvSpPr txBox="1">
            <a:spLocks noGrp="1"/>
          </p:cNvSpPr>
          <p:nvPr>
            <p:ph type="sldNum" sz="quarter" idx="2"/>
          </p:nvPr>
        </p:nvSpPr>
        <p:spPr>
          <a:xfrm>
            <a:off x="8737600" y="6356350"/>
            <a:ext cx="2844800" cy="368300"/>
          </a:xfrm>
          <a:prstGeom prst="rect">
            <a:avLst/>
          </a:prstGeom>
          <a:ln w="12700">
            <a:miter lim="400000"/>
          </a:ln>
        </p:spPr>
        <p:txBody>
          <a:bodyPr wrap="none" lIns="45719" rIns="45719">
            <a:spAutoFit/>
          </a:bodyPr>
          <a:lstStyle>
            <a:lvl1pPr>
              <a:defRPr sz="700">
                <a:solidFill>
                  <a:srgbClr val="68798A"/>
                </a:solidFill>
              </a:defRPr>
            </a:lvl1pPr>
          </a:lstStyle>
          <a:p>
            <a:fld id="{86CB4B4D-7CA3-9044-876B-883B54F8677D}"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Helvetica Neue"/>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Helvetica Neue"/>
        </a:defRPr>
      </a:lvl9pPr>
    </p:bodyStyle>
    <p:otherStyle>
      <a:lvl1pPr marL="0" marR="0" indent="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1pPr>
      <a:lvl2pPr marL="0" marR="0" indent="4572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2pPr>
      <a:lvl3pPr marL="0" marR="0" indent="9144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3pPr>
      <a:lvl4pPr marL="0" marR="0" indent="13716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4pPr>
      <a:lvl5pPr marL="0" marR="0" indent="18288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5pPr>
      <a:lvl6pPr marL="0" marR="0" indent="22860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6pPr>
      <a:lvl7pPr marL="0" marR="0" indent="27432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7pPr>
      <a:lvl8pPr marL="0" marR="0" indent="32004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8pPr>
      <a:lvl9pPr marL="0" marR="0" indent="3657600" algn="l" defTabSz="914400" rtl="0" latinLnBrk="0">
        <a:lnSpc>
          <a:spcPct val="100000"/>
        </a:lnSpc>
        <a:spcBef>
          <a:spcPts val="0"/>
        </a:spcBef>
        <a:spcAft>
          <a:spcPts val="0"/>
        </a:spcAft>
        <a:buClrTx/>
        <a:buSzTx/>
        <a:buFontTx/>
        <a:buNone/>
        <a:tabLst/>
        <a:defRPr sz="7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apo.com/magazin/bluthochdruck/hypertonie-formen/essentielle-hypertonie" TargetMode="External"/><Relationship Id="rId2" Type="http://schemas.openxmlformats.org/officeDocument/2006/relationships/hyperlink" Target="https://www.magnific.com/de/vektoren-premium/hypotonie-hypertonie-krankheit-winziger-kardiologe-der-bluthochdruck-mit-tonometer-misst-arzt-beraet-aeltere-patienten-zu-kardiologischen-erkrankungen-aerztliche-untersuchung-kardiologische-untersuchung_18961593.htm" TargetMode="External"/><Relationship Id="rId1" Type="http://schemas.openxmlformats.org/officeDocument/2006/relationships/slideLayout" Target="../slideLayouts/slideLayout2.xml"/><Relationship Id="rId6" Type="http://schemas.openxmlformats.org/officeDocument/2006/relationships/hyperlink" Target="https://www.who.int/teams/noncommunicable-diseases/hypertension-report" TargetMode="External"/><Relationship Id="rId5" Type="http://schemas.openxmlformats.org/officeDocument/2006/relationships/hyperlink" Target="https://ourworldindata.org/grapher/death-rate-from-hypertensive-heart-disease-who-ghe-age-standardized.csv" TargetMode="External"/><Relationship Id="rId4" Type="http://schemas.openxmlformats.org/officeDocument/2006/relationships/hyperlink" Target="https://ourworldindata.org/grapher/women-high-blood-pressure.cs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37" name="Gruppieren"/>
          <p:cNvGrpSpPr/>
          <p:nvPr/>
        </p:nvGrpSpPr>
        <p:grpSpPr>
          <a:xfrm>
            <a:off x="8236757" y="3707443"/>
            <a:ext cx="2505457" cy="2240281"/>
            <a:chOff x="0" y="0"/>
            <a:chExt cx="2505456" cy="2240279"/>
          </a:xfrm>
        </p:grpSpPr>
        <p:sp>
          <p:nvSpPr>
            <p:cNvPr id="30" name="Rectangle 11"/>
            <p:cNvSpPr/>
            <p:nvPr/>
          </p:nvSpPr>
          <p:spPr>
            <a:xfrm>
              <a:off x="0" y="1325879"/>
              <a:ext cx="201169" cy="9144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1" name="Rectangle 12"/>
            <p:cNvSpPr/>
            <p:nvPr/>
          </p:nvSpPr>
          <p:spPr>
            <a:xfrm>
              <a:off x="384047" y="777239"/>
              <a:ext cx="201169" cy="14630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2" name="Rectangle 13"/>
            <p:cNvSpPr/>
            <p:nvPr/>
          </p:nvSpPr>
          <p:spPr>
            <a:xfrm>
              <a:off x="768095" y="1097279"/>
              <a:ext cx="201169" cy="11430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3" name="Rectangle 14"/>
            <p:cNvSpPr/>
            <p:nvPr/>
          </p:nvSpPr>
          <p:spPr>
            <a:xfrm>
              <a:off x="1152143" y="320039"/>
              <a:ext cx="201169" cy="19202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4" name="Rectangle 15"/>
            <p:cNvSpPr/>
            <p:nvPr/>
          </p:nvSpPr>
          <p:spPr>
            <a:xfrm>
              <a:off x="1536192" y="822959"/>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5" name="Rectangle 16"/>
            <p:cNvSpPr/>
            <p:nvPr/>
          </p:nvSpPr>
          <p:spPr>
            <a:xfrm>
              <a:off x="1920240" y="0"/>
              <a:ext cx="201169" cy="2240280"/>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sp>
          <p:nvSpPr>
            <p:cNvPr id="36" name="Rectangle 15"/>
            <p:cNvSpPr/>
            <p:nvPr/>
          </p:nvSpPr>
          <p:spPr>
            <a:xfrm>
              <a:off x="2304288" y="822959"/>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dirty="0"/>
            </a:p>
          </p:txBody>
        </p:sp>
      </p:grpSp>
      <p:sp>
        <p:nvSpPr>
          <p:cNvPr id="38" name="Rectangle 2"/>
          <p:cNvSpPr/>
          <p:nvPr/>
        </p:nvSpPr>
        <p:spPr>
          <a:xfrm>
            <a:off x="0" y="0"/>
            <a:ext cx="320080" cy="6858000"/>
          </a:xfrm>
          <a:prstGeom prst="rect">
            <a:avLst/>
          </a:prstGeom>
          <a:solidFill>
            <a:srgbClr val="0F6B8C"/>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dirty="0"/>
          </a:p>
        </p:txBody>
      </p:sp>
      <p:pic>
        <p:nvPicPr>
          <p:cNvPr id="39" name="Bildschirmfoto 2026-06-19 um 19.45.21.png" descr="Bildschirmfoto 2026-06-19 um 19.45.21.png"/>
          <p:cNvPicPr>
            <a:picLocks noChangeAspect="1"/>
          </p:cNvPicPr>
          <p:nvPr/>
        </p:nvPicPr>
        <p:blipFill>
          <a:blip r:embed="rId3"/>
          <a:srcRect l="9299" t="18255" r="19580" b="8979"/>
          <a:stretch>
            <a:fillRect/>
          </a:stretch>
        </p:blipFill>
        <p:spPr>
          <a:xfrm>
            <a:off x="5432578" y="2994941"/>
            <a:ext cx="6773518" cy="3543479"/>
          </a:xfrm>
          <a:custGeom>
            <a:avLst/>
            <a:gdLst/>
            <a:ahLst/>
            <a:cxnLst>
              <a:cxn ang="0">
                <a:pos x="wd2" y="hd2"/>
              </a:cxn>
              <a:cxn ang="5400000">
                <a:pos x="wd2" y="hd2"/>
              </a:cxn>
              <a:cxn ang="10800000">
                <a:pos x="wd2" y="hd2"/>
              </a:cxn>
              <a:cxn ang="16200000">
                <a:pos x="wd2" y="hd2"/>
              </a:cxn>
            </a:cxnLst>
            <a:rect l="0" t="0" r="r" b="b"/>
            <a:pathLst>
              <a:path w="21583" h="21540" extrusionOk="0">
                <a:moveTo>
                  <a:pt x="5883" y="0"/>
                </a:moveTo>
                <a:cubicBezTo>
                  <a:pt x="5488" y="0"/>
                  <a:pt x="5376" y="19"/>
                  <a:pt x="5216" y="123"/>
                </a:cubicBezTo>
                <a:cubicBezTo>
                  <a:pt x="5164" y="157"/>
                  <a:pt x="5100" y="186"/>
                  <a:pt x="5073" y="186"/>
                </a:cubicBezTo>
                <a:cubicBezTo>
                  <a:pt x="5047" y="186"/>
                  <a:pt x="4993" y="223"/>
                  <a:pt x="4955" y="268"/>
                </a:cubicBezTo>
                <a:cubicBezTo>
                  <a:pt x="4916" y="313"/>
                  <a:pt x="4884" y="338"/>
                  <a:pt x="4884" y="326"/>
                </a:cubicBezTo>
                <a:cubicBezTo>
                  <a:pt x="4884" y="313"/>
                  <a:pt x="4854" y="344"/>
                  <a:pt x="4818" y="393"/>
                </a:cubicBezTo>
                <a:cubicBezTo>
                  <a:pt x="4782" y="442"/>
                  <a:pt x="4739" y="485"/>
                  <a:pt x="4723" y="490"/>
                </a:cubicBezTo>
                <a:cubicBezTo>
                  <a:pt x="4707" y="494"/>
                  <a:pt x="4670" y="530"/>
                  <a:pt x="4638" y="569"/>
                </a:cubicBezTo>
                <a:cubicBezTo>
                  <a:pt x="4607" y="608"/>
                  <a:pt x="4566" y="642"/>
                  <a:pt x="4547" y="642"/>
                </a:cubicBezTo>
                <a:cubicBezTo>
                  <a:pt x="4529" y="642"/>
                  <a:pt x="4514" y="655"/>
                  <a:pt x="4514" y="673"/>
                </a:cubicBezTo>
                <a:cubicBezTo>
                  <a:pt x="4514" y="691"/>
                  <a:pt x="4454" y="788"/>
                  <a:pt x="4380" y="890"/>
                </a:cubicBezTo>
                <a:cubicBezTo>
                  <a:pt x="4242" y="1082"/>
                  <a:pt x="4036" y="1455"/>
                  <a:pt x="4036" y="1515"/>
                </a:cubicBezTo>
                <a:cubicBezTo>
                  <a:pt x="4036" y="1534"/>
                  <a:pt x="4008" y="1607"/>
                  <a:pt x="3972" y="1677"/>
                </a:cubicBezTo>
                <a:cubicBezTo>
                  <a:pt x="3936" y="1747"/>
                  <a:pt x="3906" y="1828"/>
                  <a:pt x="3906" y="1858"/>
                </a:cubicBezTo>
                <a:cubicBezTo>
                  <a:pt x="3906" y="1888"/>
                  <a:pt x="3883" y="1963"/>
                  <a:pt x="3853" y="2024"/>
                </a:cubicBezTo>
                <a:cubicBezTo>
                  <a:pt x="3823" y="2085"/>
                  <a:pt x="3792" y="2180"/>
                  <a:pt x="3785" y="2236"/>
                </a:cubicBezTo>
                <a:cubicBezTo>
                  <a:pt x="3777" y="2293"/>
                  <a:pt x="3762" y="2349"/>
                  <a:pt x="3752" y="2362"/>
                </a:cubicBezTo>
                <a:cubicBezTo>
                  <a:pt x="3741" y="2374"/>
                  <a:pt x="3733" y="2415"/>
                  <a:pt x="3733" y="2451"/>
                </a:cubicBezTo>
                <a:cubicBezTo>
                  <a:pt x="3733" y="2542"/>
                  <a:pt x="3663" y="2835"/>
                  <a:pt x="3642" y="2835"/>
                </a:cubicBezTo>
                <a:cubicBezTo>
                  <a:pt x="3632" y="2835"/>
                  <a:pt x="3624" y="2898"/>
                  <a:pt x="3624" y="2975"/>
                </a:cubicBezTo>
                <a:cubicBezTo>
                  <a:pt x="3624" y="3052"/>
                  <a:pt x="3610" y="3137"/>
                  <a:pt x="3593" y="3165"/>
                </a:cubicBezTo>
                <a:cubicBezTo>
                  <a:pt x="3575" y="3194"/>
                  <a:pt x="3560" y="3259"/>
                  <a:pt x="3560" y="3310"/>
                </a:cubicBezTo>
                <a:cubicBezTo>
                  <a:pt x="3560" y="3361"/>
                  <a:pt x="3545" y="3429"/>
                  <a:pt x="3527" y="3457"/>
                </a:cubicBezTo>
                <a:cubicBezTo>
                  <a:pt x="3500" y="3499"/>
                  <a:pt x="3494" y="3630"/>
                  <a:pt x="3494" y="4159"/>
                </a:cubicBezTo>
                <a:cubicBezTo>
                  <a:pt x="3494" y="4688"/>
                  <a:pt x="3500" y="4822"/>
                  <a:pt x="3527" y="4864"/>
                </a:cubicBezTo>
                <a:cubicBezTo>
                  <a:pt x="3550" y="4901"/>
                  <a:pt x="3560" y="4999"/>
                  <a:pt x="3560" y="5216"/>
                </a:cubicBezTo>
                <a:cubicBezTo>
                  <a:pt x="3560" y="5432"/>
                  <a:pt x="3569" y="5531"/>
                  <a:pt x="3593" y="5568"/>
                </a:cubicBezTo>
                <a:cubicBezTo>
                  <a:pt x="3610" y="5596"/>
                  <a:pt x="3624" y="5661"/>
                  <a:pt x="3624" y="5713"/>
                </a:cubicBezTo>
                <a:cubicBezTo>
                  <a:pt x="3624" y="5765"/>
                  <a:pt x="3632" y="5816"/>
                  <a:pt x="3641" y="5824"/>
                </a:cubicBezTo>
                <a:cubicBezTo>
                  <a:pt x="3669" y="5848"/>
                  <a:pt x="3733" y="6094"/>
                  <a:pt x="3733" y="6181"/>
                </a:cubicBezTo>
                <a:cubicBezTo>
                  <a:pt x="3733" y="6227"/>
                  <a:pt x="3763" y="6320"/>
                  <a:pt x="3799" y="6388"/>
                </a:cubicBezTo>
                <a:cubicBezTo>
                  <a:pt x="3834" y="6457"/>
                  <a:pt x="3863" y="6532"/>
                  <a:pt x="3863" y="6555"/>
                </a:cubicBezTo>
                <a:cubicBezTo>
                  <a:pt x="3863" y="6577"/>
                  <a:pt x="3872" y="6603"/>
                  <a:pt x="3882" y="6610"/>
                </a:cubicBezTo>
                <a:cubicBezTo>
                  <a:pt x="3892" y="6618"/>
                  <a:pt x="3908" y="6661"/>
                  <a:pt x="3915" y="6707"/>
                </a:cubicBezTo>
                <a:cubicBezTo>
                  <a:pt x="3928" y="6785"/>
                  <a:pt x="3919" y="6789"/>
                  <a:pt x="3749" y="6782"/>
                </a:cubicBezTo>
                <a:cubicBezTo>
                  <a:pt x="3517" y="6771"/>
                  <a:pt x="3355" y="6867"/>
                  <a:pt x="3241" y="7085"/>
                </a:cubicBezTo>
                <a:cubicBezTo>
                  <a:pt x="3106" y="7343"/>
                  <a:pt x="3082" y="7441"/>
                  <a:pt x="3082" y="7720"/>
                </a:cubicBezTo>
                <a:cubicBezTo>
                  <a:pt x="3082" y="7903"/>
                  <a:pt x="3071" y="7993"/>
                  <a:pt x="3044" y="8048"/>
                </a:cubicBezTo>
                <a:cubicBezTo>
                  <a:pt x="2995" y="8144"/>
                  <a:pt x="2896" y="8240"/>
                  <a:pt x="2805" y="8277"/>
                </a:cubicBezTo>
                <a:cubicBezTo>
                  <a:pt x="2766" y="8293"/>
                  <a:pt x="2665" y="8379"/>
                  <a:pt x="2580" y="8468"/>
                </a:cubicBezTo>
                <a:cubicBezTo>
                  <a:pt x="2494" y="8557"/>
                  <a:pt x="2417" y="8632"/>
                  <a:pt x="2406" y="8632"/>
                </a:cubicBezTo>
                <a:cubicBezTo>
                  <a:pt x="2396" y="8632"/>
                  <a:pt x="2387" y="8658"/>
                  <a:pt x="2387" y="8692"/>
                </a:cubicBezTo>
                <a:cubicBezTo>
                  <a:pt x="2387" y="8726"/>
                  <a:pt x="2373" y="8755"/>
                  <a:pt x="2356" y="8755"/>
                </a:cubicBezTo>
                <a:cubicBezTo>
                  <a:pt x="2338" y="8755"/>
                  <a:pt x="2304" y="8837"/>
                  <a:pt x="2280" y="8938"/>
                </a:cubicBezTo>
                <a:cubicBezTo>
                  <a:pt x="2256" y="9039"/>
                  <a:pt x="2226" y="9134"/>
                  <a:pt x="2214" y="9148"/>
                </a:cubicBezTo>
                <a:cubicBezTo>
                  <a:pt x="2202" y="9162"/>
                  <a:pt x="2191" y="9219"/>
                  <a:pt x="2191" y="9274"/>
                </a:cubicBezTo>
                <a:cubicBezTo>
                  <a:pt x="2191" y="9328"/>
                  <a:pt x="2182" y="9383"/>
                  <a:pt x="2170" y="9397"/>
                </a:cubicBezTo>
                <a:cubicBezTo>
                  <a:pt x="2158" y="9411"/>
                  <a:pt x="2148" y="9469"/>
                  <a:pt x="2148" y="9525"/>
                </a:cubicBezTo>
                <a:cubicBezTo>
                  <a:pt x="2148" y="9580"/>
                  <a:pt x="2129" y="9657"/>
                  <a:pt x="2105" y="9696"/>
                </a:cubicBezTo>
                <a:cubicBezTo>
                  <a:pt x="2081" y="9735"/>
                  <a:pt x="2061" y="9809"/>
                  <a:pt x="2061" y="9860"/>
                </a:cubicBezTo>
                <a:cubicBezTo>
                  <a:pt x="2061" y="9924"/>
                  <a:pt x="2051" y="9946"/>
                  <a:pt x="2029" y="9930"/>
                </a:cubicBezTo>
                <a:cubicBezTo>
                  <a:pt x="1999" y="9908"/>
                  <a:pt x="1918" y="9684"/>
                  <a:pt x="1884" y="9532"/>
                </a:cubicBezTo>
                <a:cubicBezTo>
                  <a:pt x="1875" y="9492"/>
                  <a:pt x="1857" y="9459"/>
                  <a:pt x="1845" y="9459"/>
                </a:cubicBezTo>
                <a:cubicBezTo>
                  <a:pt x="1833" y="9459"/>
                  <a:pt x="1823" y="9415"/>
                  <a:pt x="1823" y="9360"/>
                </a:cubicBezTo>
                <a:cubicBezTo>
                  <a:pt x="1823" y="9306"/>
                  <a:pt x="1808" y="9251"/>
                  <a:pt x="1790" y="9237"/>
                </a:cubicBezTo>
                <a:cubicBezTo>
                  <a:pt x="1773" y="9224"/>
                  <a:pt x="1758" y="9189"/>
                  <a:pt x="1758" y="9158"/>
                </a:cubicBezTo>
                <a:cubicBezTo>
                  <a:pt x="1758" y="9127"/>
                  <a:pt x="1733" y="9057"/>
                  <a:pt x="1703" y="9003"/>
                </a:cubicBezTo>
                <a:cubicBezTo>
                  <a:pt x="1673" y="8950"/>
                  <a:pt x="1649" y="8885"/>
                  <a:pt x="1649" y="8859"/>
                </a:cubicBezTo>
                <a:cubicBezTo>
                  <a:pt x="1649" y="8832"/>
                  <a:pt x="1673" y="8788"/>
                  <a:pt x="1703" y="8762"/>
                </a:cubicBezTo>
                <a:cubicBezTo>
                  <a:pt x="1735" y="8734"/>
                  <a:pt x="1758" y="8680"/>
                  <a:pt x="1758" y="8629"/>
                </a:cubicBezTo>
                <a:cubicBezTo>
                  <a:pt x="1758" y="8583"/>
                  <a:pt x="1773" y="8534"/>
                  <a:pt x="1790" y="8521"/>
                </a:cubicBezTo>
                <a:cubicBezTo>
                  <a:pt x="1808" y="8508"/>
                  <a:pt x="1823" y="8465"/>
                  <a:pt x="1823" y="8424"/>
                </a:cubicBezTo>
                <a:cubicBezTo>
                  <a:pt x="1823" y="8384"/>
                  <a:pt x="1837" y="8339"/>
                  <a:pt x="1855" y="8325"/>
                </a:cubicBezTo>
                <a:cubicBezTo>
                  <a:pt x="1874" y="8312"/>
                  <a:pt x="1888" y="8250"/>
                  <a:pt x="1888" y="8176"/>
                </a:cubicBezTo>
                <a:cubicBezTo>
                  <a:pt x="1888" y="8107"/>
                  <a:pt x="1900" y="8013"/>
                  <a:pt x="1914" y="7968"/>
                </a:cubicBezTo>
                <a:cubicBezTo>
                  <a:pt x="1935" y="7904"/>
                  <a:pt x="1935" y="7878"/>
                  <a:pt x="1914" y="7838"/>
                </a:cubicBezTo>
                <a:cubicBezTo>
                  <a:pt x="1898" y="7806"/>
                  <a:pt x="1888" y="7659"/>
                  <a:pt x="1888" y="7445"/>
                </a:cubicBezTo>
                <a:cubicBezTo>
                  <a:pt x="1888" y="7143"/>
                  <a:pt x="1881" y="7092"/>
                  <a:pt x="1836" y="6999"/>
                </a:cubicBezTo>
                <a:cubicBezTo>
                  <a:pt x="1808" y="6941"/>
                  <a:pt x="1778" y="6892"/>
                  <a:pt x="1769" y="6892"/>
                </a:cubicBezTo>
                <a:cubicBezTo>
                  <a:pt x="1760" y="6892"/>
                  <a:pt x="1723" y="6850"/>
                  <a:pt x="1685" y="6798"/>
                </a:cubicBezTo>
                <a:cubicBezTo>
                  <a:pt x="1648" y="6747"/>
                  <a:pt x="1612" y="6707"/>
                  <a:pt x="1606" y="6709"/>
                </a:cubicBezTo>
                <a:cubicBezTo>
                  <a:pt x="1600" y="6711"/>
                  <a:pt x="1563" y="6689"/>
                  <a:pt x="1525" y="6658"/>
                </a:cubicBezTo>
                <a:cubicBezTo>
                  <a:pt x="1486" y="6628"/>
                  <a:pt x="1445" y="6603"/>
                  <a:pt x="1433" y="6603"/>
                </a:cubicBezTo>
                <a:cubicBezTo>
                  <a:pt x="1420" y="6603"/>
                  <a:pt x="1410" y="6573"/>
                  <a:pt x="1410" y="6538"/>
                </a:cubicBezTo>
                <a:cubicBezTo>
                  <a:pt x="1410" y="6446"/>
                  <a:pt x="1243" y="6315"/>
                  <a:pt x="1125" y="6313"/>
                </a:cubicBezTo>
                <a:cubicBezTo>
                  <a:pt x="1000" y="6312"/>
                  <a:pt x="878" y="6407"/>
                  <a:pt x="786" y="6574"/>
                </a:cubicBezTo>
                <a:cubicBezTo>
                  <a:pt x="720" y="6696"/>
                  <a:pt x="689" y="6892"/>
                  <a:pt x="737" y="6892"/>
                </a:cubicBezTo>
                <a:cubicBezTo>
                  <a:pt x="749" y="6892"/>
                  <a:pt x="759" y="6994"/>
                  <a:pt x="759" y="7119"/>
                </a:cubicBezTo>
                <a:cubicBezTo>
                  <a:pt x="759" y="7244"/>
                  <a:pt x="749" y="7348"/>
                  <a:pt x="737" y="7348"/>
                </a:cubicBezTo>
                <a:cubicBezTo>
                  <a:pt x="725" y="7348"/>
                  <a:pt x="716" y="7449"/>
                  <a:pt x="716" y="7573"/>
                </a:cubicBezTo>
                <a:cubicBezTo>
                  <a:pt x="716" y="7697"/>
                  <a:pt x="725" y="7810"/>
                  <a:pt x="737" y="7824"/>
                </a:cubicBezTo>
                <a:cubicBezTo>
                  <a:pt x="749" y="7838"/>
                  <a:pt x="759" y="7873"/>
                  <a:pt x="759" y="7903"/>
                </a:cubicBezTo>
                <a:cubicBezTo>
                  <a:pt x="759" y="7934"/>
                  <a:pt x="803" y="8045"/>
                  <a:pt x="858" y="8152"/>
                </a:cubicBezTo>
                <a:cubicBezTo>
                  <a:pt x="951" y="8332"/>
                  <a:pt x="957" y="8351"/>
                  <a:pt x="924" y="8420"/>
                </a:cubicBezTo>
                <a:cubicBezTo>
                  <a:pt x="905" y="8460"/>
                  <a:pt x="889" y="8550"/>
                  <a:pt x="889" y="8622"/>
                </a:cubicBezTo>
                <a:cubicBezTo>
                  <a:pt x="889" y="8730"/>
                  <a:pt x="879" y="8759"/>
                  <a:pt x="829" y="8781"/>
                </a:cubicBezTo>
                <a:cubicBezTo>
                  <a:pt x="797" y="8796"/>
                  <a:pt x="736" y="8841"/>
                  <a:pt x="694" y="8880"/>
                </a:cubicBezTo>
                <a:cubicBezTo>
                  <a:pt x="652" y="8920"/>
                  <a:pt x="580" y="8987"/>
                  <a:pt x="535" y="9030"/>
                </a:cubicBezTo>
                <a:cubicBezTo>
                  <a:pt x="483" y="9078"/>
                  <a:pt x="441" y="9157"/>
                  <a:pt x="423" y="9237"/>
                </a:cubicBezTo>
                <a:cubicBezTo>
                  <a:pt x="408" y="9309"/>
                  <a:pt x="383" y="9379"/>
                  <a:pt x="370" y="9394"/>
                </a:cubicBezTo>
                <a:cubicBezTo>
                  <a:pt x="333" y="9438"/>
                  <a:pt x="340" y="9936"/>
                  <a:pt x="379" y="9997"/>
                </a:cubicBezTo>
                <a:cubicBezTo>
                  <a:pt x="397" y="10026"/>
                  <a:pt x="412" y="10097"/>
                  <a:pt x="412" y="10157"/>
                </a:cubicBezTo>
                <a:cubicBezTo>
                  <a:pt x="412" y="10216"/>
                  <a:pt x="427" y="10321"/>
                  <a:pt x="445" y="10386"/>
                </a:cubicBezTo>
                <a:cubicBezTo>
                  <a:pt x="463" y="10451"/>
                  <a:pt x="477" y="10528"/>
                  <a:pt x="477" y="10557"/>
                </a:cubicBezTo>
                <a:cubicBezTo>
                  <a:pt x="477" y="10586"/>
                  <a:pt x="492" y="10663"/>
                  <a:pt x="509" y="10728"/>
                </a:cubicBezTo>
                <a:cubicBezTo>
                  <a:pt x="527" y="10794"/>
                  <a:pt x="542" y="10887"/>
                  <a:pt x="542" y="10938"/>
                </a:cubicBezTo>
                <a:cubicBezTo>
                  <a:pt x="542" y="10989"/>
                  <a:pt x="552" y="11032"/>
                  <a:pt x="564" y="11032"/>
                </a:cubicBezTo>
                <a:cubicBezTo>
                  <a:pt x="577" y="11032"/>
                  <a:pt x="585" y="11183"/>
                  <a:pt x="585" y="11404"/>
                </a:cubicBezTo>
                <a:cubicBezTo>
                  <a:pt x="585" y="11609"/>
                  <a:pt x="578" y="11778"/>
                  <a:pt x="569" y="11778"/>
                </a:cubicBezTo>
                <a:cubicBezTo>
                  <a:pt x="549" y="11778"/>
                  <a:pt x="500" y="12105"/>
                  <a:pt x="484" y="12347"/>
                </a:cubicBezTo>
                <a:cubicBezTo>
                  <a:pt x="478" y="12444"/>
                  <a:pt x="464" y="12523"/>
                  <a:pt x="454" y="12523"/>
                </a:cubicBezTo>
                <a:cubicBezTo>
                  <a:pt x="443" y="12523"/>
                  <a:pt x="429" y="12617"/>
                  <a:pt x="421" y="12733"/>
                </a:cubicBezTo>
                <a:cubicBezTo>
                  <a:pt x="413" y="12850"/>
                  <a:pt x="393" y="12953"/>
                  <a:pt x="377" y="12965"/>
                </a:cubicBezTo>
                <a:cubicBezTo>
                  <a:pt x="333" y="12997"/>
                  <a:pt x="333" y="14727"/>
                  <a:pt x="377" y="14796"/>
                </a:cubicBezTo>
                <a:cubicBezTo>
                  <a:pt x="393" y="14822"/>
                  <a:pt x="413" y="14922"/>
                  <a:pt x="421" y="15018"/>
                </a:cubicBezTo>
                <a:cubicBezTo>
                  <a:pt x="436" y="15202"/>
                  <a:pt x="542" y="15432"/>
                  <a:pt x="636" y="15486"/>
                </a:cubicBezTo>
                <a:cubicBezTo>
                  <a:pt x="703" y="15524"/>
                  <a:pt x="846" y="15795"/>
                  <a:pt x="846" y="15884"/>
                </a:cubicBezTo>
                <a:cubicBezTo>
                  <a:pt x="846" y="15925"/>
                  <a:pt x="855" y="15959"/>
                  <a:pt x="867" y="15959"/>
                </a:cubicBezTo>
                <a:cubicBezTo>
                  <a:pt x="879" y="15959"/>
                  <a:pt x="889" y="15992"/>
                  <a:pt x="889" y="16033"/>
                </a:cubicBezTo>
                <a:cubicBezTo>
                  <a:pt x="889" y="16075"/>
                  <a:pt x="904" y="16146"/>
                  <a:pt x="922" y="16190"/>
                </a:cubicBezTo>
                <a:cubicBezTo>
                  <a:pt x="939" y="16234"/>
                  <a:pt x="953" y="16336"/>
                  <a:pt x="953" y="16417"/>
                </a:cubicBezTo>
                <a:cubicBezTo>
                  <a:pt x="954" y="16537"/>
                  <a:pt x="935" y="16604"/>
                  <a:pt x="845" y="16789"/>
                </a:cubicBezTo>
                <a:cubicBezTo>
                  <a:pt x="784" y="16913"/>
                  <a:pt x="709" y="17095"/>
                  <a:pt x="679" y="17191"/>
                </a:cubicBezTo>
                <a:cubicBezTo>
                  <a:pt x="649" y="17288"/>
                  <a:pt x="616" y="17367"/>
                  <a:pt x="606" y="17367"/>
                </a:cubicBezTo>
                <a:cubicBezTo>
                  <a:pt x="595" y="17367"/>
                  <a:pt x="585" y="17404"/>
                  <a:pt x="585" y="17450"/>
                </a:cubicBezTo>
                <a:cubicBezTo>
                  <a:pt x="585" y="17495"/>
                  <a:pt x="578" y="17534"/>
                  <a:pt x="569" y="17534"/>
                </a:cubicBezTo>
                <a:cubicBezTo>
                  <a:pt x="560" y="17534"/>
                  <a:pt x="533" y="17611"/>
                  <a:pt x="509" y="17708"/>
                </a:cubicBezTo>
                <a:cubicBezTo>
                  <a:pt x="486" y="17804"/>
                  <a:pt x="461" y="17894"/>
                  <a:pt x="455" y="17905"/>
                </a:cubicBezTo>
                <a:cubicBezTo>
                  <a:pt x="416" y="17978"/>
                  <a:pt x="346" y="18202"/>
                  <a:pt x="346" y="18255"/>
                </a:cubicBezTo>
                <a:cubicBezTo>
                  <a:pt x="346" y="18290"/>
                  <a:pt x="337" y="18318"/>
                  <a:pt x="325" y="18318"/>
                </a:cubicBezTo>
                <a:cubicBezTo>
                  <a:pt x="313" y="18318"/>
                  <a:pt x="303" y="18346"/>
                  <a:pt x="303" y="18378"/>
                </a:cubicBezTo>
                <a:cubicBezTo>
                  <a:pt x="303" y="18410"/>
                  <a:pt x="271" y="18484"/>
                  <a:pt x="232" y="18542"/>
                </a:cubicBezTo>
                <a:cubicBezTo>
                  <a:pt x="107" y="18732"/>
                  <a:pt x="76" y="18779"/>
                  <a:pt x="43" y="18817"/>
                </a:cubicBezTo>
                <a:cubicBezTo>
                  <a:pt x="-7" y="18875"/>
                  <a:pt x="-17" y="19609"/>
                  <a:pt x="30" y="19746"/>
                </a:cubicBezTo>
                <a:cubicBezTo>
                  <a:pt x="49" y="19802"/>
                  <a:pt x="64" y="19921"/>
                  <a:pt x="64" y="20012"/>
                </a:cubicBezTo>
                <a:cubicBezTo>
                  <a:pt x="64" y="20102"/>
                  <a:pt x="74" y="20188"/>
                  <a:pt x="86" y="20202"/>
                </a:cubicBezTo>
                <a:cubicBezTo>
                  <a:pt x="98" y="20216"/>
                  <a:pt x="107" y="20271"/>
                  <a:pt x="107" y="20323"/>
                </a:cubicBezTo>
                <a:cubicBezTo>
                  <a:pt x="107" y="20554"/>
                  <a:pt x="341" y="20813"/>
                  <a:pt x="537" y="20798"/>
                </a:cubicBezTo>
                <a:cubicBezTo>
                  <a:pt x="678" y="20787"/>
                  <a:pt x="824" y="20660"/>
                  <a:pt x="824" y="20550"/>
                </a:cubicBezTo>
                <a:cubicBezTo>
                  <a:pt x="824" y="20470"/>
                  <a:pt x="854" y="20471"/>
                  <a:pt x="929" y="20550"/>
                </a:cubicBezTo>
                <a:cubicBezTo>
                  <a:pt x="969" y="20591"/>
                  <a:pt x="1156" y="20716"/>
                  <a:pt x="1215" y="20740"/>
                </a:cubicBezTo>
                <a:cubicBezTo>
                  <a:pt x="1221" y="20743"/>
                  <a:pt x="1274" y="20788"/>
                  <a:pt x="1334" y="20841"/>
                </a:cubicBezTo>
                <a:cubicBezTo>
                  <a:pt x="1394" y="20895"/>
                  <a:pt x="1448" y="20943"/>
                  <a:pt x="1454" y="20945"/>
                </a:cubicBezTo>
                <a:cubicBezTo>
                  <a:pt x="1460" y="20948"/>
                  <a:pt x="1478" y="20965"/>
                  <a:pt x="1496" y="20986"/>
                </a:cubicBezTo>
                <a:cubicBezTo>
                  <a:pt x="1513" y="21007"/>
                  <a:pt x="1604" y="21024"/>
                  <a:pt x="1698" y="21022"/>
                </a:cubicBezTo>
                <a:cubicBezTo>
                  <a:pt x="1907" y="21020"/>
                  <a:pt x="1982" y="20942"/>
                  <a:pt x="1993" y="20711"/>
                </a:cubicBezTo>
                <a:cubicBezTo>
                  <a:pt x="1998" y="20586"/>
                  <a:pt x="1988" y="20549"/>
                  <a:pt x="1927" y="20465"/>
                </a:cubicBezTo>
                <a:cubicBezTo>
                  <a:pt x="1863" y="20378"/>
                  <a:pt x="1730" y="20249"/>
                  <a:pt x="1687" y="20231"/>
                </a:cubicBezTo>
                <a:cubicBezTo>
                  <a:pt x="1669" y="20224"/>
                  <a:pt x="1611" y="20132"/>
                  <a:pt x="1529" y="19980"/>
                </a:cubicBezTo>
                <a:cubicBezTo>
                  <a:pt x="1478" y="19886"/>
                  <a:pt x="1476" y="19857"/>
                  <a:pt x="1476" y="19411"/>
                </a:cubicBezTo>
                <a:cubicBezTo>
                  <a:pt x="1476" y="19125"/>
                  <a:pt x="1484" y="18940"/>
                  <a:pt x="1497" y="18940"/>
                </a:cubicBezTo>
                <a:cubicBezTo>
                  <a:pt x="1509" y="18940"/>
                  <a:pt x="1519" y="18846"/>
                  <a:pt x="1519" y="18731"/>
                </a:cubicBezTo>
                <a:cubicBezTo>
                  <a:pt x="1519" y="18599"/>
                  <a:pt x="1531" y="18497"/>
                  <a:pt x="1551" y="18458"/>
                </a:cubicBezTo>
                <a:cubicBezTo>
                  <a:pt x="1569" y="18424"/>
                  <a:pt x="1584" y="18322"/>
                  <a:pt x="1584" y="18231"/>
                </a:cubicBezTo>
                <a:cubicBezTo>
                  <a:pt x="1584" y="18124"/>
                  <a:pt x="1595" y="18059"/>
                  <a:pt x="1616" y="18043"/>
                </a:cubicBezTo>
                <a:cubicBezTo>
                  <a:pt x="1639" y="18026"/>
                  <a:pt x="1649" y="17957"/>
                  <a:pt x="1649" y="17795"/>
                </a:cubicBezTo>
                <a:cubicBezTo>
                  <a:pt x="1649" y="17649"/>
                  <a:pt x="1661" y="17545"/>
                  <a:pt x="1682" y="17505"/>
                </a:cubicBezTo>
                <a:cubicBezTo>
                  <a:pt x="1701" y="17469"/>
                  <a:pt x="1715" y="17369"/>
                  <a:pt x="1715" y="17264"/>
                </a:cubicBezTo>
                <a:cubicBezTo>
                  <a:pt x="1715" y="17164"/>
                  <a:pt x="1724" y="17070"/>
                  <a:pt x="1736" y="17056"/>
                </a:cubicBezTo>
                <a:cubicBezTo>
                  <a:pt x="1748" y="17042"/>
                  <a:pt x="1758" y="16995"/>
                  <a:pt x="1758" y="16950"/>
                </a:cubicBezTo>
                <a:cubicBezTo>
                  <a:pt x="1758" y="16905"/>
                  <a:pt x="1773" y="16857"/>
                  <a:pt x="1790" y="16844"/>
                </a:cubicBezTo>
                <a:cubicBezTo>
                  <a:pt x="1817" y="16824"/>
                  <a:pt x="1823" y="16712"/>
                  <a:pt x="1823" y="16207"/>
                </a:cubicBezTo>
                <a:cubicBezTo>
                  <a:pt x="1823" y="15714"/>
                  <a:pt x="1829" y="15588"/>
                  <a:pt x="1855" y="15546"/>
                </a:cubicBezTo>
                <a:cubicBezTo>
                  <a:pt x="1873" y="15518"/>
                  <a:pt x="1888" y="15429"/>
                  <a:pt x="1888" y="15351"/>
                </a:cubicBezTo>
                <a:cubicBezTo>
                  <a:pt x="1888" y="15272"/>
                  <a:pt x="1903" y="15180"/>
                  <a:pt x="1921" y="15146"/>
                </a:cubicBezTo>
                <a:cubicBezTo>
                  <a:pt x="1947" y="15096"/>
                  <a:pt x="1954" y="14948"/>
                  <a:pt x="1957" y="14434"/>
                </a:cubicBezTo>
                <a:cubicBezTo>
                  <a:pt x="1960" y="14077"/>
                  <a:pt x="1958" y="13679"/>
                  <a:pt x="1955" y="13551"/>
                </a:cubicBezTo>
                <a:cubicBezTo>
                  <a:pt x="1951" y="13416"/>
                  <a:pt x="1959" y="13307"/>
                  <a:pt x="1973" y="13290"/>
                </a:cubicBezTo>
                <a:cubicBezTo>
                  <a:pt x="1986" y="13275"/>
                  <a:pt x="1998" y="13186"/>
                  <a:pt x="1999" y="13090"/>
                </a:cubicBezTo>
                <a:cubicBezTo>
                  <a:pt x="2000" y="12995"/>
                  <a:pt x="2006" y="12949"/>
                  <a:pt x="2012" y="12989"/>
                </a:cubicBezTo>
                <a:cubicBezTo>
                  <a:pt x="2017" y="13029"/>
                  <a:pt x="2030" y="13061"/>
                  <a:pt x="2041" y="13061"/>
                </a:cubicBezTo>
                <a:cubicBezTo>
                  <a:pt x="2052" y="13061"/>
                  <a:pt x="2061" y="13126"/>
                  <a:pt x="2061" y="13206"/>
                </a:cubicBezTo>
                <a:cubicBezTo>
                  <a:pt x="2061" y="13300"/>
                  <a:pt x="2077" y="13377"/>
                  <a:pt x="2105" y="13423"/>
                </a:cubicBezTo>
                <a:cubicBezTo>
                  <a:pt x="2129" y="13462"/>
                  <a:pt x="2148" y="13526"/>
                  <a:pt x="2148" y="13565"/>
                </a:cubicBezTo>
                <a:cubicBezTo>
                  <a:pt x="2148" y="13605"/>
                  <a:pt x="2158" y="13648"/>
                  <a:pt x="2170" y="13662"/>
                </a:cubicBezTo>
                <a:cubicBezTo>
                  <a:pt x="2182" y="13676"/>
                  <a:pt x="2191" y="13812"/>
                  <a:pt x="2191" y="13966"/>
                </a:cubicBezTo>
                <a:cubicBezTo>
                  <a:pt x="2191" y="14148"/>
                  <a:pt x="2204" y="14273"/>
                  <a:pt x="2224" y="14325"/>
                </a:cubicBezTo>
                <a:cubicBezTo>
                  <a:pt x="2246" y="14380"/>
                  <a:pt x="2255" y="14512"/>
                  <a:pt x="2256" y="14728"/>
                </a:cubicBezTo>
                <a:cubicBezTo>
                  <a:pt x="2256" y="14914"/>
                  <a:pt x="2266" y="15049"/>
                  <a:pt x="2279" y="15049"/>
                </a:cubicBezTo>
                <a:cubicBezTo>
                  <a:pt x="2291" y="15049"/>
                  <a:pt x="2300" y="15178"/>
                  <a:pt x="2300" y="15358"/>
                </a:cubicBezTo>
                <a:cubicBezTo>
                  <a:pt x="2300" y="15606"/>
                  <a:pt x="2307" y="15669"/>
                  <a:pt x="2333" y="15669"/>
                </a:cubicBezTo>
                <a:cubicBezTo>
                  <a:pt x="2378" y="15669"/>
                  <a:pt x="2378" y="16013"/>
                  <a:pt x="2333" y="16084"/>
                </a:cubicBezTo>
                <a:cubicBezTo>
                  <a:pt x="2309" y="16121"/>
                  <a:pt x="2300" y="16220"/>
                  <a:pt x="2300" y="16441"/>
                </a:cubicBezTo>
                <a:cubicBezTo>
                  <a:pt x="2300" y="16617"/>
                  <a:pt x="2291" y="16745"/>
                  <a:pt x="2279" y="16745"/>
                </a:cubicBezTo>
                <a:cubicBezTo>
                  <a:pt x="2249" y="16745"/>
                  <a:pt x="2249" y="19506"/>
                  <a:pt x="2279" y="19541"/>
                </a:cubicBezTo>
                <a:cubicBezTo>
                  <a:pt x="2307" y="19575"/>
                  <a:pt x="2307" y="20210"/>
                  <a:pt x="2279" y="20243"/>
                </a:cubicBezTo>
                <a:cubicBezTo>
                  <a:pt x="2243" y="20285"/>
                  <a:pt x="2254" y="20453"/>
                  <a:pt x="2296" y="20525"/>
                </a:cubicBezTo>
                <a:cubicBezTo>
                  <a:pt x="2345" y="20610"/>
                  <a:pt x="2504" y="20720"/>
                  <a:pt x="2605" y="20740"/>
                </a:cubicBezTo>
                <a:cubicBezTo>
                  <a:pt x="2647" y="20748"/>
                  <a:pt x="2715" y="20771"/>
                  <a:pt x="2757" y="20788"/>
                </a:cubicBezTo>
                <a:cubicBezTo>
                  <a:pt x="2798" y="20806"/>
                  <a:pt x="2988" y="20821"/>
                  <a:pt x="3179" y="20822"/>
                </a:cubicBezTo>
                <a:cubicBezTo>
                  <a:pt x="3481" y="20824"/>
                  <a:pt x="3539" y="20813"/>
                  <a:pt x="3614" y="20743"/>
                </a:cubicBezTo>
                <a:cubicBezTo>
                  <a:pt x="3662" y="20698"/>
                  <a:pt x="3708" y="20637"/>
                  <a:pt x="3718" y="20607"/>
                </a:cubicBezTo>
                <a:cubicBezTo>
                  <a:pt x="3731" y="20567"/>
                  <a:pt x="3814" y="20554"/>
                  <a:pt x="4045" y="20554"/>
                </a:cubicBezTo>
                <a:cubicBezTo>
                  <a:pt x="4216" y="20554"/>
                  <a:pt x="4363" y="20540"/>
                  <a:pt x="4372" y="20523"/>
                </a:cubicBezTo>
                <a:cubicBezTo>
                  <a:pt x="4380" y="20506"/>
                  <a:pt x="4396" y="20492"/>
                  <a:pt x="4404" y="20492"/>
                </a:cubicBezTo>
                <a:cubicBezTo>
                  <a:pt x="4440" y="20492"/>
                  <a:pt x="4493" y="20347"/>
                  <a:pt x="4493" y="20253"/>
                </a:cubicBezTo>
                <a:cubicBezTo>
                  <a:pt x="4493" y="20198"/>
                  <a:pt x="4474" y="20120"/>
                  <a:pt x="4450" y="20079"/>
                </a:cubicBezTo>
                <a:cubicBezTo>
                  <a:pt x="4426" y="20038"/>
                  <a:pt x="4406" y="20016"/>
                  <a:pt x="4406" y="20031"/>
                </a:cubicBezTo>
                <a:cubicBezTo>
                  <a:pt x="4406" y="20045"/>
                  <a:pt x="4374" y="20021"/>
                  <a:pt x="4335" y="19975"/>
                </a:cubicBezTo>
                <a:cubicBezTo>
                  <a:pt x="4296" y="19930"/>
                  <a:pt x="4250" y="19893"/>
                  <a:pt x="4232" y="19893"/>
                </a:cubicBezTo>
                <a:cubicBezTo>
                  <a:pt x="4178" y="19893"/>
                  <a:pt x="3964" y="19711"/>
                  <a:pt x="3911" y="19621"/>
                </a:cubicBezTo>
                <a:cubicBezTo>
                  <a:pt x="3867" y="19546"/>
                  <a:pt x="3864" y="19521"/>
                  <a:pt x="3886" y="19428"/>
                </a:cubicBezTo>
                <a:cubicBezTo>
                  <a:pt x="3907" y="19341"/>
                  <a:pt x="3906" y="19295"/>
                  <a:pt x="3877" y="19187"/>
                </a:cubicBezTo>
                <a:cubicBezTo>
                  <a:pt x="3830" y="19006"/>
                  <a:pt x="3828" y="18293"/>
                  <a:pt x="3875" y="18176"/>
                </a:cubicBezTo>
                <a:cubicBezTo>
                  <a:pt x="3899" y="18115"/>
                  <a:pt x="3906" y="17968"/>
                  <a:pt x="3906" y="17568"/>
                </a:cubicBezTo>
                <a:cubicBezTo>
                  <a:pt x="3906" y="17260"/>
                  <a:pt x="3916" y="17030"/>
                  <a:pt x="3929" y="17015"/>
                </a:cubicBezTo>
                <a:cubicBezTo>
                  <a:pt x="3941" y="17001"/>
                  <a:pt x="3950" y="16804"/>
                  <a:pt x="3950" y="16567"/>
                </a:cubicBezTo>
                <a:cubicBezTo>
                  <a:pt x="3950" y="16206"/>
                  <a:pt x="3957" y="16133"/>
                  <a:pt x="3991" y="16077"/>
                </a:cubicBezTo>
                <a:cubicBezTo>
                  <a:pt x="4028" y="16017"/>
                  <a:pt x="4037" y="16018"/>
                  <a:pt x="4114" y="16089"/>
                </a:cubicBezTo>
                <a:cubicBezTo>
                  <a:pt x="4159" y="16131"/>
                  <a:pt x="4203" y="16183"/>
                  <a:pt x="4210" y="16202"/>
                </a:cubicBezTo>
                <a:cubicBezTo>
                  <a:pt x="4216" y="16221"/>
                  <a:pt x="4285" y="16318"/>
                  <a:pt x="4361" y="16417"/>
                </a:cubicBezTo>
                <a:cubicBezTo>
                  <a:pt x="4482" y="16573"/>
                  <a:pt x="4517" y="16599"/>
                  <a:pt x="4616" y="16600"/>
                </a:cubicBezTo>
                <a:cubicBezTo>
                  <a:pt x="4688" y="16601"/>
                  <a:pt x="4722" y="16617"/>
                  <a:pt x="4709" y="16641"/>
                </a:cubicBezTo>
                <a:cubicBezTo>
                  <a:pt x="4658" y="16740"/>
                  <a:pt x="4735" y="17092"/>
                  <a:pt x="4834" y="17213"/>
                </a:cubicBezTo>
                <a:cubicBezTo>
                  <a:pt x="4851" y="17233"/>
                  <a:pt x="4862" y="17336"/>
                  <a:pt x="4862" y="17469"/>
                </a:cubicBezTo>
                <a:cubicBezTo>
                  <a:pt x="4862" y="17627"/>
                  <a:pt x="4872" y="17695"/>
                  <a:pt x="4895" y="17712"/>
                </a:cubicBezTo>
                <a:cubicBezTo>
                  <a:pt x="4922" y="17732"/>
                  <a:pt x="4927" y="17832"/>
                  <a:pt x="4927" y="18248"/>
                </a:cubicBezTo>
                <a:cubicBezTo>
                  <a:pt x="4927" y="18529"/>
                  <a:pt x="4936" y="18776"/>
                  <a:pt x="4947" y="18798"/>
                </a:cubicBezTo>
                <a:cubicBezTo>
                  <a:pt x="4958" y="18820"/>
                  <a:pt x="4971" y="19177"/>
                  <a:pt x="4975" y="19592"/>
                </a:cubicBezTo>
                <a:cubicBezTo>
                  <a:pt x="4983" y="20485"/>
                  <a:pt x="4983" y="20484"/>
                  <a:pt x="5183" y="20484"/>
                </a:cubicBezTo>
                <a:cubicBezTo>
                  <a:pt x="5368" y="20484"/>
                  <a:pt x="5425" y="20398"/>
                  <a:pt x="5426" y="20110"/>
                </a:cubicBezTo>
                <a:cubicBezTo>
                  <a:pt x="5427" y="19991"/>
                  <a:pt x="5431" y="19893"/>
                  <a:pt x="5436" y="19893"/>
                </a:cubicBezTo>
                <a:cubicBezTo>
                  <a:pt x="5452" y="19893"/>
                  <a:pt x="5780" y="20094"/>
                  <a:pt x="5828" y="20135"/>
                </a:cubicBezTo>
                <a:cubicBezTo>
                  <a:pt x="5938" y="20225"/>
                  <a:pt x="6114" y="20347"/>
                  <a:pt x="6133" y="20347"/>
                </a:cubicBezTo>
                <a:cubicBezTo>
                  <a:pt x="6145" y="20347"/>
                  <a:pt x="6191" y="20386"/>
                  <a:pt x="6236" y="20431"/>
                </a:cubicBezTo>
                <a:cubicBezTo>
                  <a:pt x="6280" y="20477"/>
                  <a:pt x="6317" y="20502"/>
                  <a:pt x="6317" y="20489"/>
                </a:cubicBezTo>
                <a:cubicBezTo>
                  <a:pt x="6317" y="20476"/>
                  <a:pt x="6343" y="20501"/>
                  <a:pt x="6376" y="20545"/>
                </a:cubicBezTo>
                <a:cubicBezTo>
                  <a:pt x="6409" y="20589"/>
                  <a:pt x="6465" y="20640"/>
                  <a:pt x="6500" y="20656"/>
                </a:cubicBezTo>
                <a:cubicBezTo>
                  <a:pt x="6535" y="20672"/>
                  <a:pt x="6625" y="20738"/>
                  <a:pt x="6700" y="20805"/>
                </a:cubicBezTo>
                <a:cubicBezTo>
                  <a:pt x="6775" y="20872"/>
                  <a:pt x="6848" y="20928"/>
                  <a:pt x="6864" y="20928"/>
                </a:cubicBezTo>
                <a:cubicBezTo>
                  <a:pt x="6880" y="20928"/>
                  <a:pt x="6931" y="20965"/>
                  <a:pt x="6978" y="21010"/>
                </a:cubicBezTo>
                <a:cubicBezTo>
                  <a:pt x="7025" y="21056"/>
                  <a:pt x="7075" y="21092"/>
                  <a:pt x="7089" y="21092"/>
                </a:cubicBezTo>
                <a:cubicBezTo>
                  <a:pt x="7103" y="21092"/>
                  <a:pt x="7142" y="21120"/>
                  <a:pt x="7175" y="21153"/>
                </a:cubicBezTo>
                <a:cubicBezTo>
                  <a:pt x="7209" y="21186"/>
                  <a:pt x="7243" y="21204"/>
                  <a:pt x="7251" y="21194"/>
                </a:cubicBezTo>
                <a:cubicBezTo>
                  <a:pt x="7260" y="21184"/>
                  <a:pt x="7295" y="21203"/>
                  <a:pt x="7329" y="21237"/>
                </a:cubicBezTo>
                <a:cubicBezTo>
                  <a:pt x="7364" y="21271"/>
                  <a:pt x="7419" y="21300"/>
                  <a:pt x="7452" y="21300"/>
                </a:cubicBezTo>
                <a:cubicBezTo>
                  <a:pt x="7486" y="21300"/>
                  <a:pt x="7530" y="21319"/>
                  <a:pt x="7552" y="21341"/>
                </a:cubicBezTo>
                <a:cubicBezTo>
                  <a:pt x="7574" y="21363"/>
                  <a:pt x="7633" y="21392"/>
                  <a:pt x="7684" y="21404"/>
                </a:cubicBezTo>
                <a:cubicBezTo>
                  <a:pt x="7734" y="21416"/>
                  <a:pt x="7784" y="21436"/>
                  <a:pt x="7796" y="21449"/>
                </a:cubicBezTo>
                <a:cubicBezTo>
                  <a:pt x="7808" y="21463"/>
                  <a:pt x="7897" y="21473"/>
                  <a:pt x="7995" y="21471"/>
                </a:cubicBezTo>
                <a:cubicBezTo>
                  <a:pt x="8092" y="21469"/>
                  <a:pt x="8202" y="21483"/>
                  <a:pt x="8237" y="21505"/>
                </a:cubicBezTo>
                <a:cubicBezTo>
                  <a:pt x="8394" y="21600"/>
                  <a:pt x="9007" y="21487"/>
                  <a:pt x="9173" y="21331"/>
                </a:cubicBezTo>
                <a:cubicBezTo>
                  <a:pt x="9407" y="21112"/>
                  <a:pt x="9584" y="20916"/>
                  <a:pt x="9601" y="20861"/>
                </a:cubicBezTo>
                <a:cubicBezTo>
                  <a:pt x="9610" y="20829"/>
                  <a:pt x="9627" y="20803"/>
                  <a:pt x="9637" y="20803"/>
                </a:cubicBezTo>
                <a:cubicBezTo>
                  <a:pt x="9648" y="20803"/>
                  <a:pt x="9742" y="20640"/>
                  <a:pt x="9847" y="20441"/>
                </a:cubicBezTo>
                <a:lnTo>
                  <a:pt x="10040" y="20082"/>
                </a:lnTo>
                <a:lnTo>
                  <a:pt x="10580" y="20094"/>
                </a:lnTo>
                <a:cubicBezTo>
                  <a:pt x="11104" y="20106"/>
                  <a:pt x="11122" y="20105"/>
                  <a:pt x="11214" y="20014"/>
                </a:cubicBezTo>
                <a:cubicBezTo>
                  <a:pt x="11308" y="19922"/>
                  <a:pt x="11309" y="19917"/>
                  <a:pt x="11309" y="19703"/>
                </a:cubicBezTo>
                <a:cubicBezTo>
                  <a:pt x="11309" y="19539"/>
                  <a:pt x="11318" y="19481"/>
                  <a:pt x="11345" y="19462"/>
                </a:cubicBezTo>
                <a:cubicBezTo>
                  <a:pt x="11364" y="19447"/>
                  <a:pt x="11568" y="19436"/>
                  <a:pt x="11796" y="19437"/>
                </a:cubicBezTo>
                <a:cubicBezTo>
                  <a:pt x="12024" y="19439"/>
                  <a:pt x="12557" y="19430"/>
                  <a:pt x="12981" y="19418"/>
                </a:cubicBezTo>
                <a:cubicBezTo>
                  <a:pt x="16567" y="19320"/>
                  <a:pt x="16543" y="19322"/>
                  <a:pt x="16699" y="19196"/>
                </a:cubicBezTo>
                <a:cubicBezTo>
                  <a:pt x="16732" y="19169"/>
                  <a:pt x="16787" y="19134"/>
                  <a:pt x="16819" y="19119"/>
                </a:cubicBezTo>
                <a:cubicBezTo>
                  <a:pt x="16851" y="19104"/>
                  <a:pt x="16914" y="19049"/>
                  <a:pt x="16958" y="18996"/>
                </a:cubicBezTo>
                <a:cubicBezTo>
                  <a:pt x="17003" y="18942"/>
                  <a:pt x="17040" y="18908"/>
                  <a:pt x="17040" y="18921"/>
                </a:cubicBezTo>
                <a:cubicBezTo>
                  <a:pt x="17040" y="18934"/>
                  <a:pt x="17084" y="18884"/>
                  <a:pt x="17138" y="18810"/>
                </a:cubicBezTo>
                <a:cubicBezTo>
                  <a:pt x="17192" y="18737"/>
                  <a:pt x="17235" y="18663"/>
                  <a:pt x="17235" y="18644"/>
                </a:cubicBezTo>
                <a:cubicBezTo>
                  <a:pt x="17235" y="18625"/>
                  <a:pt x="17244" y="18610"/>
                  <a:pt x="17254" y="18610"/>
                </a:cubicBezTo>
                <a:cubicBezTo>
                  <a:pt x="17280" y="18610"/>
                  <a:pt x="17474" y="18234"/>
                  <a:pt x="17474" y="18185"/>
                </a:cubicBezTo>
                <a:cubicBezTo>
                  <a:pt x="17474" y="18164"/>
                  <a:pt x="17489" y="18121"/>
                  <a:pt x="17507" y="18086"/>
                </a:cubicBezTo>
                <a:cubicBezTo>
                  <a:pt x="17525" y="18052"/>
                  <a:pt x="17540" y="17988"/>
                  <a:pt x="17540" y="17944"/>
                </a:cubicBezTo>
                <a:cubicBezTo>
                  <a:pt x="17540" y="17900"/>
                  <a:pt x="17550" y="17864"/>
                  <a:pt x="17562" y="17864"/>
                </a:cubicBezTo>
                <a:cubicBezTo>
                  <a:pt x="17573" y="17864"/>
                  <a:pt x="17583" y="17828"/>
                  <a:pt x="17583" y="17785"/>
                </a:cubicBezTo>
                <a:cubicBezTo>
                  <a:pt x="17583" y="17742"/>
                  <a:pt x="17598" y="17685"/>
                  <a:pt x="17616" y="17657"/>
                </a:cubicBezTo>
                <a:cubicBezTo>
                  <a:pt x="17637" y="17624"/>
                  <a:pt x="17648" y="17534"/>
                  <a:pt x="17648" y="17409"/>
                </a:cubicBezTo>
                <a:cubicBezTo>
                  <a:pt x="17648" y="17271"/>
                  <a:pt x="17658" y="17203"/>
                  <a:pt x="17680" y="17187"/>
                </a:cubicBezTo>
                <a:cubicBezTo>
                  <a:pt x="17706" y="17168"/>
                  <a:pt x="17713" y="17077"/>
                  <a:pt x="17713" y="16745"/>
                </a:cubicBezTo>
                <a:cubicBezTo>
                  <a:pt x="17713" y="16413"/>
                  <a:pt x="17706" y="16325"/>
                  <a:pt x="17680" y="16306"/>
                </a:cubicBezTo>
                <a:cubicBezTo>
                  <a:pt x="17658" y="16289"/>
                  <a:pt x="17648" y="16222"/>
                  <a:pt x="17648" y="16086"/>
                </a:cubicBezTo>
                <a:cubicBezTo>
                  <a:pt x="17648" y="15917"/>
                  <a:pt x="17655" y="15882"/>
                  <a:pt x="17703" y="15840"/>
                </a:cubicBezTo>
                <a:cubicBezTo>
                  <a:pt x="17734" y="15814"/>
                  <a:pt x="17772" y="15795"/>
                  <a:pt x="17789" y="15795"/>
                </a:cubicBezTo>
                <a:cubicBezTo>
                  <a:pt x="17806" y="15795"/>
                  <a:pt x="17906" y="15707"/>
                  <a:pt x="18010" y="15602"/>
                </a:cubicBezTo>
                <a:cubicBezTo>
                  <a:pt x="18288" y="15321"/>
                  <a:pt x="18492" y="15131"/>
                  <a:pt x="18516" y="15131"/>
                </a:cubicBezTo>
                <a:cubicBezTo>
                  <a:pt x="18528" y="15131"/>
                  <a:pt x="18538" y="15113"/>
                  <a:pt x="18538" y="15090"/>
                </a:cubicBezTo>
                <a:cubicBezTo>
                  <a:pt x="18538" y="15067"/>
                  <a:pt x="18552" y="15049"/>
                  <a:pt x="18568" y="15049"/>
                </a:cubicBezTo>
                <a:cubicBezTo>
                  <a:pt x="18585" y="15049"/>
                  <a:pt x="18626" y="15020"/>
                  <a:pt x="18660" y="14986"/>
                </a:cubicBezTo>
                <a:lnTo>
                  <a:pt x="18722" y="14926"/>
                </a:lnTo>
                <a:lnTo>
                  <a:pt x="18729" y="15452"/>
                </a:lnTo>
                <a:cubicBezTo>
                  <a:pt x="18732" y="15742"/>
                  <a:pt x="18744" y="15997"/>
                  <a:pt x="18755" y="16019"/>
                </a:cubicBezTo>
                <a:cubicBezTo>
                  <a:pt x="18767" y="16041"/>
                  <a:pt x="18777" y="16089"/>
                  <a:pt x="18777" y="16127"/>
                </a:cubicBezTo>
                <a:cubicBezTo>
                  <a:pt x="18777" y="16166"/>
                  <a:pt x="18792" y="16220"/>
                  <a:pt x="18810" y="16248"/>
                </a:cubicBezTo>
                <a:cubicBezTo>
                  <a:pt x="18837" y="16292"/>
                  <a:pt x="18841" y="16510"/>
                  <a:pt x="18841" y="17739"/>
                </a:cubicBezTo>
                <a:cubicBezTo>
                  <a:pt x="18841" y="18980"/>
                  <a:pt x="18838" y="19183"/>
                  <a:pt x="18810" y="19203"/>
                </a:cubicBezTo>
                <a:cubicBezTo>
                  <a:pt x="18784" y="19222"/>
                  <a:pt x="18777" y="19304"/>
                  <a:pt x="18777" y="19577"/>
                </a:cubicBezTo>
                <a:cubicBezTo>
                  <a:pt x="18777" y="19770"/>
                  <a:pt x="18767" y="19940"/>
                  <a:pt x="18755" y="19954"/>
                </a:cubicBezTo>
                <a:cubicBezTo>
                  <a:pt x="18743" y="19968"/>
                  <a:pt x="18734" y="20009"/>
                  <a:pt x="18734" y="20045"/>
                </a:cubicBezTo>
                <a:cubicBezTo>
                  <a:pt x="18734" y="20082"/>
                  <a:pt x="18696" y="20178"/>
                  <a:pt x="18652" y="20260"/>
                </a:cubicBezTo>
                <a:cubicBezTo>
                  <a:pt x="18469" y="20594"/>
                  <a:pt x="18441" y="20858"/>
                  <a:pt x="18572" y="21006"/>
                </a:cubicBezTo>
                <a:cubicBezTo>
                  <a:pt x="18715" y="21167"/>
                  <a:pt x="18875" y="21178"/>
                  <a:pt x="19101" y="21044"/>
                </a:cubicBezTo>
                <a:cubicBezTo>
                  <a:pt x="19183" y="20995"/>
                  <a:pt x="19298" y="20816"/>
                  <a:pt x="19298" y="20738"/>
                </a:cubicBezTo>
                <a:cubicBezTo>
                  <a:pt x="19298" y="20710"/>
                  <a:pt x="19324" y="20668"/>
                  <a:pt x="19357" y="20646"/>
                </a:cubicBezTo>
                <a:cubicBezTo>
                  <a:pt x="19428" y="20599"/>
                  <a:pt x="19537" y="20402"/>
                  <a:pt x="19537" y="20320"/>
                </a:cubicBezTo>
                <a:cubicBezTo>
                  <a:pt x="19537" y="20289"/>
                  <a:pt x="19552" y="20251"/>
                  <a:pt x="19570" y="20238"/>
                </a:cubicBezTo>
                <a:cubicBezTo>
                  <a:pt x="19598" y="20218"/>
                  <a:pt x="19601" y="20011"/>
                  <a:pt x="19601" y="18731"/>
                </a:cubicBezTo>
                <a:cubicBezTo>
                  <a:pt x="19601" y="17478"/>
                  <a:pt x="19606" y="17241"/>
                  <a:pt x="19633" y="17213"/>
                </a:cubicBezTo>
                <a:cubicBezTo>
                  <a:pt x="19654" y="17190"/>
                  <a:pt x="19667" y="17087"/>
                  <a:pt x="19672" y="16890"/>
                </a:cubicBezTo>
                <a:cubicBezTo>
                  <a:pt x="19676" y="16731"/>
                  <a:pt x="19682" y="17379"/>
                  <a:pt x="19685" y="18330"/>
                </a:cubicBezTo>
                <a:cubicBezTo>
                  <a:pt x="19688" y="19449"/>
                  <a:pt x="19696" y="20057"/>
                  <a:pt x="19710" y="20057"/>
                </a:cubicBezTo>
                <a:cubicBezTo>
                  <a:pt x="19722" y="20057"/>
                  <a:pt x="19732" y="20101"/>
                  <a:pt x="19732" y="20154"/>
                </a:cubicBezTo>
                <a:cubicBezTo>
                  <a:pt x="19732" y="20206"/>
                  <a:pt x="19746" y="20286"/>
                  <a:pt x="19763" y="20330"/>
                </a:cubicBezTo>
                <a:cubicBezTo>
                  <a:pt x="19781" y="20374"/>
                  <a:pt x="19796" y="20460"/>
                  <a:pt x="19796" y="20521"/>
                </a:cubicBezTo>
                <a:cubicBezTo>
                  <a:pt x="19797" y="20602"/>
                  <a:pt x="19818" y="20654"/>
                  <a:pt x="19878" y="20726"/>
                </a:cubicBezTo>
                <a:cubicBezTo>
                  <a:pt x="19950" y="20810"/>
                  <a:pt x="19987" y="20822"/>
                  <a:pt x="20178" y="20822"/>
                </a:cubicBezTo>
                <a:cubicBezTo>
                  <a:pt x="20384" y="20823"/>
                  <a:pt x="20403" y="20818"/>
                  <a:pt x="20478" y="20709"/>
                </a:cubicBezTo>
                <a:lnTo>
                  <a:pt x="20557" y="20593"/>
                </a:lnTo>
                <a:lnTo>
                  <a:pt x="20557" y="20205"/>
                </a:lnTo>
                <a:cubicBezTo>
                  <a:pt x="20557" y="19912"/>
                  <a:pt x="20549" y="19807"/>
                  <a:pt x="20525" y="19768"/>
                </a:cubicBezTo>
                <a:cubicBezTo>
                  <a:pt x="20507" y="19740"/>
                  <a:pt x="20492" y="19656"/>
                  <a:pt x="20492" y="19580"/>
                </a:cubicBezTo>
                <a:cubicBezTo>
                  <a:pt x="20492" y="19496"/>
                  <a:pt x="20478" y="19426"/>
                  <a:pt x="20456" y="19404"/>
                </a:cubicBezTo>
                <a:cubicBezTo>
                  <a:pt x="20419" y="19364"/>
                  <a:pt x="20432" y="19189"/>
                  <a:pt x="20471" y="19189"/>
                </a:cubicBezTo>
                <a:cubicBezTo>
                  <a:pt x="20483" y="19189"/>
                  <a:pt x="20492" y="18784"/>
                  <a:pt x="20492" y="18202"/>
                </a:cubicBezTo>
                <a:cubicBezTo>
                  <a:pt x="20492" y="17400"/>
                  <a:pt x="20497" y="17201"/>
                  <a:pt x="20523" y="17136"/>
                </a:cubicBezTo>
                <a:cubicBezTo>
                  <a:pt x="20544" y="17083"/>
                  <a:pt x="20556" y="16953"/>
                  <a:pt x="20556" y="16757"/>
                </a:cubicBezTo>
                <a:cubicBezTo>
                  <a:pt x="20557" y="16482"/>
                  <a:pt x="20562" y="16454"/>
                  <a:pt x="20614" y="16386"/>
                </a:cubicBezTo>
                <a:cubicBezTo>
                  <a:pt x="20646" y="16345"/>
                  <a:pt x="20699" y="16255"/>
                  <a:pt x="20733" y="16188"/>
                </a:cubicBezTo>
                <a:lnTo>
                  <a:pt x="20795" y="16065"/>
                </a:lnTo>
                <a:lnTo>
                  <a:pt x="20795" y="15317"/>
                </a:lnTo>
                <a:cubicBezTo>
                  <a:pt x="20795" y="14723"/>
                  <a:pt x="20789" y="14551"/>
                  <a:pt x="20764" y="14487"/>
                </a:cubicBezTo>
                <a:cubicBezTo>
                  <a:pt x="20719" y="14375"/>
                  <a:pt x="20720" y="13998"/>
                  <a:pt x="20765" y="13927"/>
                </a:cubicBezTo>
                <a:cubicBezTo>
                  <a:pt x="20792" y="13885"/>
                  <a:pt x="20797" y="13821"/>
                  <a:pt x="20788" y="13623"/>
                </a:cubicBezTo>
                <a:cubicBezTo>
                  <a:pt x="20773" y="13295"/>
                  <a:pt x="20773" y="13313"/>
                  <a:pt x="20788" y="13117"/>
                </a:cubicBezTo>
                <a:cubicBezTo>
                  <a:pt x="20797" y="12986"/>
                  <a:pt x="20813" y="12933"/>
                  <a:pt x="20857" y="12890"/>
                </a:cubicBezTo>
                <a:cubicBezTo>
                  <a:pt x="20889" y="12859"/>
                  <a:pt x="20928" y="12799"/>
                  <a:pt x="20943" y="12760"/>
                </a:cubicBezTo>
                <a:cubicBezTo>
                  <a:pt x="20959" y="12720"/>
                  <a:pt x="20983" y="12687"/>
                  <a:pt x="20997" y="12687"/>
                </a:cubicBezTo>
                <a:cubicBezTo>
                  <a:pt x="21012" y="12687"/>
                  <a:pt x="21060" y="12643"/>
                  <a:pt x="21104" y="12586"/>
                </a:cubicBezTo>
                <a:cubicBezTo>
                  <a:pt x="21148" y="12529"/>
                  <a:pt x="21199" y="12482"/>
                  <a:pt x="21218" y="12482"/>
                </a:cubicBezTo>
                <a:cubicBezTo>
                  <a:pt x="21236" y="12482"/>
                  <a:pt x="21252" y="12465"/>
                  <a:pt x="21252" y="12444"/>
                </a:cubicBezTo>
                <a:cubicBezTo>
                  <a:pt x="21252" y="12423"/>
                  <a:pt x="21280" y="12393"/>
                  <a:pt x="21315" y="12378"/>
                </a:cubicBezTo>
                <a:cubicBezTo>
                  <a:pt x="21350" y="12364"/>
                  <a:pt x="21390" y="12325"/>
                  <a:pt x="21403" y="12294"/>
                </a:cubicBezTo>
                <a:cubicBezTo>
                  <a:pt x="21417" y="12263"/>
                  <a:pt x="21457" y="12227"/>
                  <a:pt x="21492" y="12212"/>
                </a:cubicBezTo>
                <a:cubicBezTo>
                  <a:pt x="21527" y="12197"/>
                  <a:pt x="21561" y="12168"/>
                  <a:pt x="21568" y="12147"/>
                </a:cubicBezTo>
                <a:cubicBezTo>
                  <a:pt x="21568" y="12145"/>
                  <a:pt x="21581" y="12133"/>
                  <a:pt x="21583" y="12130"/>
                </a:cubicBezTo>
                <a:lnTo>
                  <a:pt x="21583" y="2533"/>
                </a:lnTo>
                <a:cubicBezTo>
                  <a:pt x="21457" y="2537"/>
                  <a:pt x="21393" y="2548"/>
                  <a:pt x="21353" y="2598"/>
                </a:cubicBezTo>
                <a:cubicBezTo>
                  <a:pt x="21320" y="2639"/>
                  <a:pt x="21286" y="2704"/>
                  <a:pt x="21278" y="2743"/>
                </a:cubicBezTo>
                <a:cubicBezTo>
                  <a:pt x="21271" y="2782"/>
                  <a:pt x="21247" y="2852"/>
                  <a:pt x="21224" y="2897"/>
                </a:cubicBezTo>
                <a:cubicBezTo>
                  <a:pt x="21201" y="2943"/>
                  <a:pt x="21175" y="3017"/>
                  <a:pt x="21166" y="3061"/>
                </a:cubicBezTo>
                <a:cubicBezTo>
                  <a:pt x="21151" y="3136"/>
                  <a:pt x="21066" y="3193"/>
                  <a:pt x="20858" y="3271"/>
                </a:cubicBezTo>
                <a:cubicBezTo>
                  <a:pt x="20787" y="3298"/>
                  <a:pt x="20578" y="3504"/>
                  <a:pt x="20461" y="3662"/>
                </a:cubicBezTo>
                <a:cubicBezTo>
                  <a:pt x="20412" y="3728"/>
                  <a:pt x="20324" y="3813"/>
                  <a:pt x="20264" y="3850"/>
                </a:cubicBezTo>
                <a:cubicBezTo>
                  <a:pt x="20204" y="3888"/>
                  <a:pt x="20134" y="3954"/>
                  <a:pt x="20110" y="3997"/>
                </a:cubicBezTo>
                <a:cubicBezTo>
                  <a:pt x="20085" y="4041"/>
                  <a:pt x="19973" y="4166"/>
                  <a:pt x="19861" y="4275"/>
                </a:cubicBezTo>
                <a:cubicBezTo>
                  <a:pt x="19748" y="4384"/>
                  <a:pt x="19641" y="4490"/>
                  <a:pt x="19623" y="4511"/>
                </a:cubicBezTo>
                <a:cubicBezTo>
                  <a:pt x="19605" y="4533"/>
                  <a:pt x="19579" y="4553"/>
                  <a:pt x="19565" y="4557"/>
                </a:cubicBezTo>
                <a:cubicBezTo>
                  <a:pt x="19550" y="4561"/>
                  <a:pt x="19509" y="4607"/>
                  <a:pt x="19472" y="4656"/>
                </a:cubicBezTo>
                <a:cubicBezTo>
                  <a:pt x="19436" y="4705"/>
                  <a:pt x="19407" y="4730"/>
                  <a:pt x="19407" y="4714"/>
                </a:cubicBezTo>
                <a:cubicBezTo>
                  <a:pt x="19407" y="4698"/>
                  <a:pt x="19390" y="4713"/>
                  <a:pt x="19369" y="4748"/>
                </a:cubicBezTo>
                <a:cubicBezTo>
                  <a:pt x="19348" y="4783"/>
                  <a:pt x="19306" y="4827"/>
                  <a:pt x="19276" y="4844"/>
                </a:cubicBezTo>
                <a:cubicBezTo>
                  <a:pt x="19246" y="4861"/>
                  <a:pt x="19199" y="4910"/>
                  <a:pt x="19170" y="4953"/>
                </a:cubicBezTo>
                <a:cubicBezTo>
                  <a:pt x="19142" y="4995"/>
                  <a:pt x="19100" y="5030"/>
                  <a:pt x="19079" y="5030"/>
                </a:cubicBezTo>
                <a:cubicBezTo>
                  <a:pt x="19058" y="5030"/>
                  <a:pt x="19038" y="5046"/>
                  <a:pt x="19034" y="5066"/>
                </a:cubicBezTo>
                <a:cubicBezTo>
                  <a:pt x="19030" y="5087"/>
                  <a:pt x="18954" y="5172"/>
                  <a:pt x="18864" y="5254"/>
                </a:cubicBezTo>
                <a:cubicBezTo>
                  <a:pt x="18775" y="5337"/>
                  <a:pt x="18686" y="5419"/>
                  <a:pt x="18668" y="5438"/>
                </a:cubicBezTo>
                <a:cubicBezTo>
                  <a:pt x="18605" y="5505"/>
                  <a:pt x="18525" y="5582"/>
                  <a:pt x="17954" y="6135"/>
                </a:cubicBezTo>
                <a:cubicBezTo>
                  <a:pt x="17636" y="6442"/>
                  <a:pt x="17364" y="6712"/>
                  <a:pt x="17349" y="6736"/>
                </a:cubicBezTo>
                <a:cubicBezTo>
                  <a:pt x="17334" y="6759"/>
                  <a:pt x="17322" y="6765"/>
                  <a:pt x="17322" y="6748"/>
                </a:cubicBezTo>
                <a:cubicBezTo>
                  <a:pt x="17323" y="6731"/>
                  <a:pt x="17310" y="6736"/>
                  <a:pt x="17295" y="6760"/>
                </a:cubicBezTo>
                <a:cubicBezTo>
                  <a:pt x="17280" y="6784"/>
                  <a:pt x="17194" y="6876"/>
                  <a:pt x="17105" y="6965"/>
                </a:cubicBezTo>
                <a:cubicBezTo>
                  <a:pt x="16895" y="7173"/>
                  <a:pt x="16842" y="7231"/>
                  <a:pt x="16795" y="7303"/>
                </a:cubicBezTo>
                <a:cubicBezTo>
                  <a:pt x="16761" y="7354"/>
                  <a:pt x="16753" y="7353"/>
                  <a:pt x="16726" y="7283"/>
                </a:cubicBezTo>
                <a:cubicBezTo>
                  <a:pt x="16708" y="7240"/>
                  <a:pt x="16694" y="7171"/>
                  <a:pt x="16694" y="7131"/>
                </a:cubicBezTo>
                <a:cubicBezTo>
                  <a:pt x="16694" y="7091"/>
                  <a:pt x="16683" y="7059"/>
                  <a:pt x="16671" y="7059"/>
                </a:cubicBezTo>
                <a:cubicBezTo>
                  <a:pt x="16659" y="7059"/>
                  <a:pt x="16650" y="7011"/>
                  <a:pt x="16650" y="6955"/>
                </a:cubicBezTo>
                <a:cubicBezTo>
                  <a:pt x="16650" y="6899"/>
                  <a:pt x="16637" y="6841"/>
                  <a:pt x="16622" y="6823"/>
                </a:cubicBezTo>
                <a:cubicBezTo>
                  <a:pt x="16607" y="6804"/>
                  <a:pt x="16574" y="6705"/>
                  <a:pt x="16547" y="6603"/>
                </a:cubicBezTo>
                <a:cubicBezTo>
                  <a:pt x="16521" y="6501"/>
                  <a:pt x="16466" y="6350"/>
                  <a:pt x="16426" y="6270"/>
                </a:cubicBezTo>
                <a:cubicBezTo>
                  <a:pt x="16385" y="6190"/>
                  <a:pt x="16340" y="6085"/>
                  <a:pt x="16326" y="6034"/>
                </a:cubicBezTo>
                <a:cubicBezTo>
                  <a:pt x="16312" y="5982"/>
                  <a:pt x="16291" y="5940"/>
                  <a:pt x="16279" y="5940"/>
                </a:cubicBezTo>
                <a:cubicBezTo>
                  <a:pt x="16268" y="5940"/>
                  <a:pt x="16242" y="5910"/>
                  <a:pt x="16221" y="5874"/>
                </a:cubicBezTo>
                <a:cubicBezTo>
                  <a:pt x="15992" y="5484"/>
                  <a:pt x="15667" y="5202"/>
                  <a:pt x="15217" y="5003"/>
                </a:cubicBezTo>
                <a:cubicBezTo>
                  <a:pt x="14921" y="4873"/>
                  <a:pt x="14272" y="4940"/>
                  <a:pt x="14084" y="5119"/>
                </a:cubicBezTo>
                <a:cubicBezTo>
                  <a:pt x="14040" y="5161"/>
                  <a:pt x="13988" y="5194"/>
                  <a:pt x="13971" y="5194"/>
                </a:cubicBezTo>
                <a:cubicBezTo>
                  <a:pt x="13930" y="5194"/>
                  <a:pt x="13645" y="5476"/>
                  <a:pt x="13593" y="5568"/>
                </a:cubicBezTo>
                <a:cubicBezTo>
                  <a:pt x="13571" y="5608"/>
                  <a:pt x="13532" y="5652"/>
                  <a:pt x="13508" y="5667"/>
                </a:cubicBezTo>
                <a:cubicBezTo>
                  <a:pt x="13459" y="5697"/>
                  <a:pt x="13045" y="6437"/>
                  <a:pt x="13046" y="6494"/>
                </a:cubicBezTo>
                <a:cubicBezTo>
                  <a:pt x="13046" y="6515"/>
                  <a:pt x="13018" y="6580"/>
                  <a:pt x="12985" y="6639"/>
                </a:cubicBezTo>
                <a:cubicBezTo>
                  <a:pt x="12951" y="6698"/>
                  <a:pt x="12907" y="6817"/>
                  <a:pt x="12886" y="6902"/>
                </a:cubicBezTo>
                <a:cubicBezTo>
                  <a:pt x="12866" y="6988"/>
                  <a:pt x="12839" y="7059"/>
                  <a:pt x="12828" y="7059"/>
                </a:cubicBezTo>
                <a:cubicBezTo>
                  <a:pt x="12817" y="7059"/>
                  <a:pt x="12807" y="7084"/>
                  <a:pt x="12807" y="7117"/>
                </a:cubicBezTo>
                <a:cubicBezTo>
                  <a:pt x="12807" y="7150"/>
                  <a:pt x="12794" y="7193"/>
                  <a:pt x="12779" y="7211"/>
                </a:cubicBezTo>
                <a:cubicBezTo>
                  <a:pt x="12763" y="7229"/>
                  <a:pt x="12730" y="7323"/>
                  <a:pt x="12705" y="7418"/>
                </a:cubicBezTo>
                <a:cubicBezTo>
                  <a:pt x="12672" y="7549"/>
                  <a:pt x="12656" y="7580"/>
                  <a:pt x="12637" y="7544"/>
                </a:cubicBezTo>
                <a:cubicBezTo>
                  <a:pt x="12623" y="7518"/>
                  <a:pt x="12612" y="7464"/>
                  <a:pt x="12612" y="7423"/>
                </a:cubicBezTo>
                <a:cubicBezTo>
                  <a:pt x="12612" y="7382"/>
                  <a:pt x="12601" y="7348"/>
                  <a:pt x="12589" y="7348"/>
                </a:cubicBezTo>
                <a:cubicBezTo>
                  <a:pt x="12577" y="7348"/>
                  <a:pt x="12557" y="7302"/>
                  <a:pt x="12546" y="7245"/>
                </a:cubicBezTo>
                <a:cubicBezTo>
                  <a:pt x="12535" y="7188"/>
                  <a:pt x="12517" y="7141"/>
                  <a:pt x="12504" y="7141"/>
                </a:cubicBezTo>
                <a:cubicBezTo>
                  <a:pt x="12492" y="7141"/>
                  <a:pt x="12482" y="7104"/>
                  <a:pt x="12482" y="7059"/>
                </a:cubicBezTo>
                <a:cubicBezTo>
                  <a:pt x="12482" y="7013"/>
                  <a:pt x="12474" y="6975"/>
                  <a:pt x="12465" y="6975"/>
                </a:cubicBezTo>
                <a:cubicBezTo>
                  <a:pt x="12456" y="6975"/>
                  <a:pt x="12429" y="6907"/>
                  <a:pt x="12406" y="6825"/>
                </a:cubicBezTo>
                <a:cubicBezTo>
                  <a:pt x="12382" y="6742"/>
                  <a:pt x="12333" y="6614"/>
                  <a:pt x="12297" y="6540"/>
                </a:cubicBezTo>
                <a:cubicBezTo>
                  <a:pt x="12261" y="6466"/>
                  <a:pt x="12212" y="6356"/>
                  <a:pt x="12188" y="6294"/>
                </a:cubicBezTo>
                <a:cubicBezTo>
                  <a:pt x="12133" y="6153"/>
                  <a:pt x="12020" y="5940"/>
                  <a:pt x="11998" y="5940"/>
                </a:cubicBezTo>
                <a:cubicBezTo>
                  <a:pt x="11990" y="5939"/>
                  <a:pt x="11964" y="5907"/>
                  <a:pt x="11942" y="5867"/>
                </a:cubicBezTo>
                <a:cubicBezTo>
                  <a:pt x="11853" y="5707"/>
                  <a:pt x="11687" y="5484"/>
                  <a:pt x="11656" y="5484"/>
                </a:cubicBezTo>
                <a:cubicBezTo>
                  <a:pt x="11642" y="5484"/>
                  <a:pt x="11602" y="5446"/>
                  <a:pt x="11567" y="5399"/>
                </a:cubicBezTo>
                <a:cubicBezTo>
                  <a:pt x="11533" y="5352"/>
                  <a:pt x="11504" y="5324"/>
                  <a:pt x="11504" y="5339"/>
                </a:cubicBezTo>
                <a:cubicBezTo>
                  <a:pt x="11504" y="5353"/>
                  <a:pt x="11477" y="5330"/>
                  <a:pt x="11445" y="5286"/>
                </a:cubicBezTo>
                <a:cubicBezTo>
                  <a:pt x="11371" y="5188"/>
                  <a:pt x="11140" y="5047"/>
                  <a:pt x="10996" y="5011"/>
                </a:cubicBezTo>
                <a:cubicBezTo>
                  <a:pt x="10937" y="4996"/>
                  <a:pt x="10880" y="4973"/>
                  <a:pt x="10869" y="4960"/>
                </a:cubicBezTo>
                <a:cubicBezTo>
                  <a:pt x="10836" y="4921"/>
                  <a:pt x="10253" y="4936"/>
                  <a:pt x="10210" y="4977"/>
                </a:cubicBezTo>
                <a:cubicBezTo>
                  <a:pt x="10188" y="4999"/>
                  <a:pt x="10124" y="5020"/>
                  <a:pt x="10067" y="5025"/>
                </a:cubicBezTo>
                <a:cubicBezTo>
                  <a:pt x="10011" y="5031"/>
                  <a:pt x="9925" y="5071"/>
                  <a:pt x="9878" y="5114"/>
                </a:cubicBezTo>
                <a:cubicBezTo>
                  <a:pt x="9830" y="5158"/>
                  <a:pt x="9777" y="5194"/>
                  <a:pt x="9759" y="5194"/>
                </a:cubicBezTo>
                <a:cubicBezTo>
                  <a:pt x="9715" y="5194"/>
                  <a:pt x="9270" y="5637"/>
                  <a:pt x="9212" y="5737"/>
                </a:cubicBezTo>
                <a:cubicBezTo>
                  <a:pt x="9188" y="5780"/>
                  <a:pt x="9160" y="5817"/>
                  <a:pt x="9151" y="5817"/>
                </a:cubicBezTo>
                <a:cubicBezTo>
                  <a:pt x="9127" y="5817"/>
                  <a:pt x="8834" y="6396"/>
                  <a:pt x="8834" y="6444"/>
                </a:cubicBezTo>
                <a:cubicBezTo>
                  <a:pt x="8834" y="6481"/>
                  <a:pt x="8812" y="6541"/>
                  <a:pt x="8742" y="6687"/>
                </a:cubicBezTo>
                <a:cubicBezTo>
                  <a:pt x="8721" y="6731"/>
                  <a:pt x="8704" y="6796"/>
                  <a:pt x="8704" y="6830"/>
                </a:cubicBezTo>
                <a:cubicBezTo>
                  <a:pt x="8704" y="6864"/>
                  <a:pt x="8695" y="6892"/>
                  <a:pt x="8683" y="6892"/>
                </a:cubicBezTo>
                <a:cubicBezTo>
                  <a:pt x="8671" y="6892"/>
                  <a:pt x="8661" y="6924"/>
                  <a:pt x="8661" y="6962"/>
                </a:cubicBezTo>
                <a:cubicBezTo>
                  <a:pt x="8661" y="7045"/>
                  <a:pt x="8578" y="7378"/>
                  <a:pt x="8550" y="7411"/>
                </a:cubicBezTo>
                <a:cubicBezTo>
                  <a:pt x="8539" y="7424"/>
                  <a:pt x="8531" y="7534"/>
                  <a:pt x="8531" y="7655"/>
                </a:cubicBezTo>
                <a:cubicBezTo>
                  <a:pt x="8531" y="7800"/>
                  <a:pt x="8519" y="7893"/>
                  <a:pt x="8498" y="7927"/>
                </a:cubicBezTo>
                <a:cubicBezTo>
                  <a:pt x="8471" y="7970"/>
                  <a:pt x="8465" y="8106"/>
                  <a:pt x="8465" y="8678"/>
                </a:cubicBezTo>
                <a:cubicBezTo>
                  <a:pt x="8465" y="9262"/>
                  <a:pt x="8471" y="9384"/>
                  <a:pt x="8498" y="9404"/>
                </a:cubicBezTo>
                <a:cubicBezTo>
                  <a:pt x="8521" y="9421"/>
                  <a:pt x="8531" y="9489"/>
                  <a:pt x="8531" y="9645"/>
                </a:cubicBezTo>
                <a:cubicBezTo>
                  <a:pt x="8531" y="9801"/>
                  <a:pt x="8540" y="9872"/>
                  <a:pt x="8564" y="9889"/>
                </a:cubicBezTo>
                <a:cubicBezTo>
                  <a:pt x="8583" y="9903"/>
                  <a:pt x="8595" y="9963"/>
                  <a:pt x="8595" y="10034"/>
                </a:cubicBezTo>
                <a:cubicBezTo>
                  <a:pt x="8595" y="10101"/>
                  <a:pt x="8612" y="10218"/>
                  <a:pt x="8632" y="10294"/>
                </a:cubicBezTo>
                <a:cubicBezTo>
                  <a:pt x="8700" y="10553"/>
                  <a:pt x="8704" y="10575"/>
                  <a:pt x="8704" y="10680"/>
                </a:cubicBezTo>
                <a:cubicBezTo>
                  <a:pt x="8704" y="10738"/>
                  <a:pt x="8719" y="10798"/>
                  <a:pt x="8736" y="10810"/>
                </a:cubicBezTo>
                <a:cubicBezTo>
                  <a:pt x="8753" y="10823"/>
                  <a:pt x="8772" y="10886"/>
                  <a:pt x="8780" y="10953"/>
                </a:cubicBezTo>
                <a:cubicBezTo>
                  <a:pt x="8788" y="11019"/>
                  <a:pt x="8803" y="11073"/>
                  <a:pt x="8814" y="11073"/>
                </a:cubicBezTo>
                <a:cubicBezTo>
                  <a:pt x="8825" y="11073"/>
                  <a:pt x="8834" y="11120"/>
                  <a:pt x="8834" y="11177"/>
                </a:cubicBezTo>
                <a:cubicBezTo>
                  <a:pt x="8834" y="11234"/>
                  <a:pt x="8844" y="11281"/>
                  <a:pt x="8856" y="11281"/>
                </a:cubicBezTo>
                <a:cubicBezTo>
                  <a:pt x="8868" y="11281"/>
                  <a:pt x="8877" y="11309"/>
                  <a:pt x="8877" y="11344"/>
                </a:cubicBezTo>
                <a:cubicBezTo>
                  <a:pt x="8877" y="11378"/>
                  <a:pt x="8892" y="11417"/>
                  <a:pt x="8910" y="11430"/>
                </a:cubicBezTo>
                <a:cubicBezTo>
                  <a:pt x="8928" y="11443"/>
                  <a:pt x="8943" y="11497"/>
                  <a:pt x="8943" y="11549"/>
                </a:cubicBezTo>
                <a:cubicBezTo>
                  <a:pt x="8943" y="11600"/>
                  <a:pt x="8958" y="11667"/>
                  <a:pt x="8976" y="11696"/>
                </a:cubicBezTo>
                <a:cubicBezTo>
                  <a:pt x="9029" y="11780"/>
                  <a:pt x="9014" y="11885"/>
                  <a:pt x="8922" y="12067"/>
                </a:cubicBezTo>
                <a:cubicBezTo>
                  <a:pt x="8855" y="12200"/>
                  <a:pt x="8834" y="12272"/>
                  <a:pt x="8834" y="12381"/>
                </a:cubicBezTo>
                <a:cubicBezTo>
                  <a:pt x="8834" y="12459"/>
                  <a:pt x="8844" y="12523"/>
                  <a:pt x="8856" y="12523"/>
                </a:cubicBezTo>
                <a:cubicBezTo>
                  <a:pt x="8868" y="12523"/>
                  <a:pt x="8877" y="12551"/>
                  <a:pt x="8877" y="12584"/>
                </a:cubicBezTo>
                <a:cubicBezTo>
                  <a:pt x="8877" y="12617"/>
                  <a:pt x="8890" y="12657"/>
                  <a:pt x="8906" y="12675"/>
                </a:cubicBezTo>
                <a:cubicBezTo>
                  <a:pt x="8922" y="12693"/>
                  <a:pt x="8941" y="12753"/>
                  <a:pt x="8948" y="12805"/>
                </a:cubicBezTo>
                <a:cubicBezTo>
                  <a:pt x="8959" y="12889"/>
                  <a:pt x="8946" y="12912"/>
                  <a:pt x="8838" y="13008"/>
                </a:cubicBezTo>
                <a:cubicBezTo>
                  <a:pt x="8770" y="13068"/>
                  <a:pt x="8710" y="13131"/>
                  <a:pt x="8704" y="13146"/>
                </a:cubicBezTo>
                <a:cubicBezTo>
                  <a:pt x="8698" y="13160"/>
                  <a:pt x="8664" y="13183"/>
                  <a:pt x="8628" y="13196"/>
                </a:cubicBezTo>
                <a:cubicBezTo>
                  <a:pt x="8592" y="13210"/>
                  <a:pt x="8534" y="13243"/>
                  <a:pt x="8498" y="13271"/>
                </a:cubicBezTo>
                <a:cubicBezTo>
                  <a:pt x="8462" y="13300"/>
                  <a:pt x="8409" y="13330"/>
                  <a:pt x="8380" y="13336"/>
                </a:cubicBezTo>
                <a:cubicBezTo>
                  <a:pt x="8352" y="13343"/>
                  <a:pt x="8291" y="13376"/>
                  <a:pt x="8245" y="13411"/>
                </a:cubicBezTo>
                <a:cubicBezTo>
                  <a:pt x="8146" y="13486"/>
                  <a:pt x="7855" y="13496"/>
                  <a:pt x="7681" y="13430"/>
                </a:cubicBezTo>
                <a:cubicBezTo>
                  <a:pt x="7617" y="13406"/>
                  <a:pt x="7540" y="13376"/>
                  <a:pt x="7510" y="13365"/>
                </a:cubicBezTo>
                <a:cubicBezTo>
                  <a:pt x="7481" y="13354"/>
                  <a:pt x="7411" y="13302"/>
                  <a:pt x="7354" y="13247"/>
                </a:cubicBezTo>
                <a:cubicBezTo>
                  <a:pt x="7296" y="13192"/>
                  <a:pt x="7250" y="13161"/>
                  <a:pt x="7250" y="13177"/>
                </a:cubicBezTo>
                <a:cubicBezTo>
                  <a:pt x="7250" y="13193"/>
                  <a:pt x="7242" y="13186"/>
                  <a:pt x="7233" y="13163"/>
                </a:cubicBezTo>
                <a:cubicBezTo>
                  <a:pt x="7225" y="13139"/>
                  <a:pt x="7179" y="13084"/>
                  <a:pt x="7131" y="13042"/>
                </a:cubicBezTo>
                <a:cubicBezTo>
                  <a:pt x="6966" y="12897"/>
                  <a:pt x="6669" y="12386"/>
                  <a:pt x="6599" y="12125"/>
                </a:cubicBezTo>
                <a:cubicBezTo>
                  <a:pt x="6581" y="12059"/>
                  <a:pt x="6555" y="11991"/>
                  <a:pt x="6540" y="11973"/>
                </a:cubicBezTo>
                <a:cubicBezTo>
                  <a:pt x="6506" y="11931"/>
                  <a:pt x="6447" y="11701"/>
                  <a:pt x="6447" y="11609"/>
                </a:cubicBezTo>
                <a:cubicBezTo>
                  <a:pt x="6447" y="11568"/>
                  <a:pt x="6437" y="11522"/>
                  <a:pt x="6425" y="11508"/>
                </a:cubicBezTo>
                <a:cubicBezTo>
                  <a:pt x="6413" y="11493"/>
                  <a:pt x="6404" y="11421"/>
                  <a:pt x="6404" y="11346"/>
                </a:cubicBezTo>
                <a:cubicBezTo>
                  <a:pt x="6404" y="11269"/>
                  <a:pt x="6384" y="11168"/>
                  <a:pt x="6360" y="11114"/>
                </a:cubicBezTo>
                <a:cubicBezTo>
                  <a:pt x="6325" y="11039"/>
                  <a:pt x="6317" y="10960"/>
                  <a:pt x="6317" y="10736"/>
                </a:cubicBezTo>
                <a:cubicBezTo>
                  <a:pt x="6317" y="10574"/>
                  <a:pt x="6307" y="10453"/>
                  <a:pt x="6295" y="10453"/>
                </a:cubicBezTo>
                <a:cubicBezTo>
                  <a:pt x="6283" y="10453"/>
                  <a:pt x="6274" y="10331"/>
                  <a:pt x="6274" y="10169"/>
                </a:cubicBezTo>
                <a:cubicBezTo>
                  <a:pt x="6274" y="9966"/>
                  <a:pt x="6264" y="9868"/>
                  <a:pt x="6241" y="9831"/>
                </a:cubicBezTo>
                <a:cubicBezTo>
                  <a:pt x="6214" y="9789"/>
                  <a:pt x="6208" y="9659"/>
                  <a:pt x="6208" y="9146"/>
                </a:cubicBezTo>
                <a:cubicBezTo>
                  <a:pt x="6208" y="8797"/>
                  <a:pt x="6216" y="8501"/>
                  <a:pt x="6225" y="8490"/>
                </a:cubicBezTo>
                <a:cubicBezTo>
                  <a:pt x="6235" y="8478"/>
                  <a:pt x="6292" y="8460"/>
                  <a:pt x="6351" y="8449"/>
                </a:cubicBezTo>
                <a:cubicBezTo>
                  <a:pt x="6463" y="8427"/>
                  <a:pt x="6651" y="8313"/>
                  <a:pt x="6762" y="8200"/>
                </a:cubicBezTo>
                <a:cubicBezTo>
                  <a:pt x="6797" y="8164"/>
                  <a:pt x="6838" y="8135"/>
                  <a:pt x="6853" y="8135"/>
                </a:cubicBezTo>
                <a:cubicBezTo>
                  <a:pt x="6894" y="8135"/>
                  <a:pt x="7041" y="7996"/>
                  <a:pt x="7068" y="7932"/>
                </a:cubicBezTo>
                <a:cubicBezTo>
                  <a:pt x="7091" y="7875"/>
                  <a:pt x="7203" y="7747"/>
                  <a:pt x="7276" y="7696"/>
                </a:cubicBezTo>
                <a:cubicBezTo>
                  <a:pt x="7297" y="7681"/>
                  <a:pt x="7320" y="7635"/>
                  <a:pt x="7327" y="7592"/>
                </a:cubicBezTo>
                <a:cubicBezTo>
                  <a:pt x="7334" y="7549"/>
                  <a:pt x="7349" y="7512"/>
                  <a:pt x="7360" y="7512"/>
                </a:cubicBezTo>
                <a:cubicBezTo>
                  <a:pt x="7418" y="7512"/>
                  <a:pt x="7749" y="6853"/>
                  <a:pt x="7749" y="6738"/>
                </a:cubicBezTo>
                <a:cubicBezTo>
                  <a:pt x="7749" y="6719"/>
                  <a:pt x="7778" y="6659"/>
                  <a:pt x="7814" y="6603"/>
                </a:cubicBezTo>
                <a:cubicBezTo>
                  <a:pt x="7850" y="6546"/>
                  <a:pt x="7880" y="6458"/>
                  <a:pt x="7880" y="6408"/>
                </a:cubicBezTo>
                <a:cubicBezTo>
                  <a:pt x="7880" y="6357"/>
                  <a:pt x="7889" y="6306"/>
                  <a:pt x="7901" y="6292"/>
                </a:cubicBezTo>
                <a:cubicBezTo>
                  <a:pt x="7913" y="6278"/>
                  <a:pt x="7923" y="6237"/>
                  <a:pt x="7923" y="6203"/>
                </a:cubicBezTo>
                <a:cubicBezTo>
                  <a:pt x="7923" y="6168"/>
                  <a:pt x="7938" y="6114"/>
                  <a:pt x="7955" y="6079"/>
                </a:cubicBezTo>
                <a:cubicBezTo>
                  <a:pt x="7973" y="6045"/>
                  <a:pt x="7988" y="5983"/>
                  <a:pt x="7988" y="5942"/>
                </a:cubicBezTo>
                <a:cubicBezTo>
                  <a:pt x="7988" y="5900"/>
                  <a:pt x="8002" y="5856"/>
                  <a:pt x="8020" y="5843"/>
                </a:cubicBezTo>
                <a:cubicBezTo>
                  <a:pt x="8039" y="5829"/>
                  <a:pt x="8053" y="5767"/>
                  <a:pt x="8053" y="5698"/>
                </a:cubicBezTo>
                <a:cubicBezTo>
                  <a:pt x="8053" y="5632"/>
                  <a:pt x="8068" y="5555"/>
                  <a:pt x="8086" y="5527"/>
                </a:cubicBezTo>
                <a:cubicBezTo>
                  <a:pt x="8107" y="5493"/>
                  <a:pt x="8119" y="5399"/>
                  <a:pt x="8119" y="5252"/>
                </a:cubicBezTo>
                <a:cubicBezTo>
                  <a:pt x="8119" y="5130"/>
                  <a:pt x="8128" y="5030"/>
                  <a:pt x="8140" y="5030"/>
                </a:cubicBezTo>
                <a:cubicBezTo>
                  <a:pt x="8154" y="5030"/>
                  <a:pt x="8162" y="4725"/>
                  <a:pt x="8162" y="4203"/>
                </a:cubicBezTo>
                <a:cubicBezTo>
                  <a:pt x="8162" y="3697"/>
                  <a:pt x="8153" y="3369"/>
                  <a:pt x="8140" y="3353"/>
                </a:cubicBezTo>
                <a:cubicBezTo>
                  <a:pt x="8128" y="3339"/>
                  <a:pt x="8119" y="3253"/>
                  <a:pt x="8119" y="3163"/>
                </a:cubicBezTo>
                <a:cubicBezTo>
                  <a:pt x="8119" y="3055"/>
                  <a:pt x="8107" y="2990"/>
                  <a:pt x="8086" y="2975"/>
                </a:cubicBezTo>
                <a:cubicBezTo>
                  <a:pt x="8066" y="2960"/>
                  <a:pt x="8053" y="2897"/>
                  <a:pt x="8053" y="2811"/>
                </a:cubicBezTo>
                <a:cubicBezTo>
                  <a:pt x="8053" y="2733"/>
                  <a:pt x="8043" y="2668"/>
                  <a:pt x="8033" y="2668"/>
                </a:cubicBezTo>
                <a:cubicBezTo>
                  <a:pt x="8011" y="2668"/>
                  <a:pt x="7923" y="2342"/>
                  <a:pt x="7923" y="2263"/>
                </a:cubicBezTo>
                <a:cubicBezTo>
                  <a:pt x="7923" y="2236"/>
                  <a:pt x="7913" y="2215"/>
                  <a:pt x="7901" y="2215"/>
                </a:cubicBezTo>
                <a:cubicBezTo>
                  <a:pt x="7889" y="2215"/>
                  <a:pt x="7880" y="2169"/>
                  <a:pt x="7880" y="2116"/>
                </a:cubicBezTo>
                <a:cubicBezTo>
                  <a:pt x="7880" y="2062"/>
                  <a:pt x="7859" y="1986"/>
                  <a:pt x="7835" y="1944"/>
                </a:cubicBezTo>
                <a:cubicBezTo>
                  <a:pt x="7811" y="1903"/>
                  <a:pt x="7792" y="1845"/>
                  <a:pt x="7792" y="1814"/>
                </a:cubicBezTo>
                <a:cubicBezTo>
                  <a:pt x="7792" y="1784"/>
                  <a:pt x="7783" y="1759"/>
                  <a:pt x="7771" y="1759"/>
                </a:cubicBezTo>
                <a:cubicBezTo>
                  <a:pt x="7759" y="1759"/>
                  <a:pt x="7748" y="1734"/>
                  <a:pt x="7748" y="1706"/>
                </a:cubicBezTo>
                <a:cubicBezTo>
                  <a:pt x="7748" y="1651"/>
                  <a:pt x="7570" y="1262"/>
                  <a:pt x="7546" y="1262"/>
                </a:cubicBezTo>
                <a:cubicBezTo>
                  <a:pt x="7538" y="1262"/>
                  <a:pt x="7500" y="1197"/>
                  <a:pt x="7464" y="1117"/>
                </a:cubicBezTo>
                <a:cubicBezTo>
                  <a:pt x="7427" y="1037"/>
                  <a:pt x="7389" y="972"/>
                  <a:pt x="7379" y="972"/>
                </a:cubicBezTo>
                <a:cubicBezTo>
                  <a:pt x="7369" y="972"/>
                  <a:pt x="7323" y="899"/>
                  <a:pt x="7278" y="811"/>
                </a:cubicBezTo>
                <a:cubicBezTo>
                  <a:pt x="7232" y="722"/>
                  <a:pt x="7171" y="637"/>
                  <a:pt x="7141" y="620"/>
                </a:cubicBezTo>
                <a:cubicBezTo>
                  <a:pt x="7111" y="603"/>
                  <a:pt x="7068" y="558"/>
                  <a:pt x="7046" y="521"/>
                </a:cubicBezTo>
                <a:cubicBezTo>
                  <a:pt x="7024" y="484"/>
                  <a:pt x="7000" y="456"/>
                  <a:pt x="6992" y="458"/>
                </a:cubicBezTo>
                <a:cubicBezTo>
                  <a:pt x="6969" y="467"/>
                  <a:pt x="6915" y="421"/>
                  <a:pt x="6901" y="381"/>
                </a:cubicBezTo>
                <a:cubicBezTo>
                  <a:pt x="6894" y="361"/>
                  <a:pt x="6873" y="341"/>
                  <a:pt x="6857" y="335"/>
                </a:cubicBezTo>
                <a:cubicBezTo>
                  <a:pt x="6840" y="330"/>
                  <a:pt x="6795" y="294"/>
                  <a:pt x="6757" y="256"/>
                </a:cubicBezTo>
                <a:cubicBezTo>
                  <a:pt x="6718" y="217"/>
                  <a:pt x="6668" y="186"/>
                  <a:pt x="6643" y="186"/>
                </a:cubicBezTo>
                <a:cubicBezTo>
                  <a:pt x="6618" y="186"/>
                  <a:pt x="6561" y="156"/>
                  <a:pt x="6518" y="121"/>
                </a:cubicBezTo>
                <a:cubicBezTo>
                  <a:pt x="6389" y="18"/>
                  <a:pt x="6285" y="0"/>
                  <a:pt x="5883" y="0"/>
                </a:cubicBezTo>
                <a:close/>
                <a:moveTo>
                  <a:pt x="4882" y="2277"/>
                </a:moveTo>
                <a:cubicBezTo>
                  <a:pt x="4932" y="2303"/>
                  <a:pt x="4962" y="2406"/>
                  <a:pt x="4910" y="2458"/>
                </a:cubicBezTo>
                <a:cubicBezTo>
                  <a:pt x="4890" y="2479"/>
                  <a:pt x="4825" y="2507"/>
                  <a:pt x="4765" y="2521"/>
                </a:cubicBezTo>
                <a:cubicBezTo>
                  <a:pt x="4686" y="2539"/>
                  <a:pt x="4669" y="2535"/>
                  <a:pt x="4703" y="2507"/>
                </a:cubicBezTo>
                <a:cubicBezTo>
                  <a:pt x="4729" y="2485"/>
                  <a:pt x="4760" y="2430"/>
                  <a:pt x="4772" y="2386"/>
                </a:cubicBezTo>
                <a:cubicBezTo>
                  <a:pt x="4785" y="2342"/>
                  <a:pt x="4811" y="2296"/>
                  <a:pt x="4829" y="2282"/>
                </a:cubicBezTo>
                <a:cubicBezTo>
                  <a:pt x="4848" y="2268"/>
                  <a:pt x="4866" y="2269"/>
                  <a:pt x="4882" y="2277"/>
                </a:cubicBezTo>
                <a:close/>
                <a:moveTo>
                  <a:pt x="5417" y="2432"/>
                </a:moveTo>
                <a:cubicBezTo>
                  <a:pt x="5452" y="2429"/>
                  <a:pt x="5499" y="2433"/>
                  <a:pt x="5559" y="2441"/>
                </a:cubicBezTo>
                <a:cubicBezTo>
                  <a:pt x="5659" y="2456"/>
                  <a:pt x="5877" y="2474"/>
                  <a:pt x="6043" y="2482"/>
                </a:cubicBezTo>
                <a:cubicBezTo>
                  <a:pt x="6394" y="2501"/>
                  <a:pt x="6438" y="2516"/>
                  <a:pt x="6492" y="2639"/>
                </a:cubicBezTo>
                <a:cubicBezTo>
                  <a:pt x="6572" y="2822"/>
                  <a:pt x="6565" y="2828"/>
                  <a:pt x="6229" y="2847"/>
                </a:cubicBezTo>
                <a:cubicBezTo>
                  <a:pt x="6113" y="2853"/>
                  <a:pt x="6017" y="2836"/>
                  <a:pt x="5970" y="2801"/>
                </a:cubicBezTo>
                <a:cubicBezTo>
                  <a:pt x="5929" y="2770"/>
                  <a:pt x="5866" y="2754"/>
                  <a:pt x="5830" y="2765"/>
                </a:cubicBezTo>
                <a:cubicBezTo>
                  <a:pt x="5793" y="2775"/>
                  <a:pt x="5734" y="2800"/>
                  <a:pt x="5698" y="2820"/>
                </a:cubicBezTo>
                <a:cubicBezTo>
                  <a:pt x="5662" y="2840"/>
                  <a:pt x="5512" y="2846"/>
                  <a:pt x="5364" y="2835"/>
                </a:cubicBezTo>
                <a:lnTo>
                  <a:pt x="5096" y="2815"/>
                </a:lnTo>
                <a:lnTo>
                  <a:pt x="5173" y="2659"/>
                </a:lnTo>
                <a:cubicBezTo>
                  <a:pt x="5216" y="2573"/>
                  <a:pt x="5267" y="2504"/>
                  <a:pt x="5290" y="2504"/>
                </a:cubicBezTo>
                <a:cubicBezTo>
                  <a:pt x="5312" y="2504"/>
                  <a:pt x="5341" y="2483"/>
                  <a:pt x="5354" y="2458"/>
                </a:cubicBezTo>
                <a:cubicBezTo>
                  <a:pt x="5362" y="2444"/>
                  <a:pt x="5383" y="2435"/>
                  <a:pt x="5417" y="2432"/>
                </a:cubicBezTo>
                <a:close/>
                <a:moveTo>
                  <a:pt x="4320" y="7498"/>
                </a:moveTo>
                <a:lnTo>
                  <a:pt x="4387" y="7631"/>
                </a:lnTo>
                <a:cubicBezTo>
                  <a:pt x="4468" y="7790"/>
                  <a:pt x="4932" y="8232"/>
                  <a:pt x="5105" y="8316"/>
                </a:cubicBezTo>
                <a:cubicBezTo>
                  <a:pt x="5173" y="8349"/>
                  <a:pt x="5248" y="8398"/>
                  <a:pt x="5272" y="8422"/>
                </a:cubicBezTo>
                <a:cubicBezTo>
                  <a:pt x="5296" y="8446"/>
                  <a:pt x="5357" y="8467"/>
                  <a:pt x="5409" y="8468"/>
                </a:cubicBezTo>
                <a:cubicBezTo>
                  <a:pt x="5564" y="8470"/>
                  <a:pt x="5578" y="8515"/>
                  <a:pt x="5578" y="8996"/>
                </a:cubicBezTo>
                <a:cubicBezTo>
                  <a:pt x="5578" y="9230"/>
                  <a:pt x="5587" y="9423"/>
                  <a:pt x="5599" y="9438"/>
                </a:cubicBezTo>
                <a:cubicBezTo>
                  <a:pt x="5612" y="9452"/>
                  <a:pt x="5622" y="9677"/>
                  <a:pt x="5622" y="9971"/>
                </a:cubicBezTo>
                <a:cubicBezTo>
                  <a:pt x="5622" y="10353"/>
                  <a:pt x="5630" y="10499"/>
                  <a:pt x="5654" y="10559"/>
                </a:cubicBezTo>
                <a:cubicBezTo>
                  <a:pt x="5675" y="10613"/>
                  <a:pt x="5686" y="10741"/>
                  <a:pt x="5687" y="10941"/>
                </a:cubicBezTo>
                <a:cubicBezTo>
                  <a:pt x="5687" y="11170"/>
                  <a:pt x="5695" y="11248"/>
                  <a:pt x="5720" y="11266"/>
                </a:cubicBezTo>
                <a:cubicBezTo>
                  <a:pt x="5741" y="11282"/>
                  <a:pt x="5753" y="11346"/>
                  <a:pt x="5753" y="11452"/>
                </a:cubicBezTo>
                <a:cubicBezTo>
                  <a:pt x="5753" y="11558"/>
                  <a:pt x="5763" y="11622"/>
                  <a:pt x="5784" y="11638"/>
                </a:cubicBezTo>
                <a:cubicBezTo>
                  <a:pt x="5804" y="11652"/>
                  <a:pt x="5817" y="11715"/>
                  <a:pt x="5817" y="11799"/>
                </a:cubicBezTo>
                <a:cubicBezTo>
                  <a:pt x="5817" y="11875"/>
                  <a:pt x="5827" y="11949"/>
                  <a:pt x="5838" y="11964"/>
                </a:cubicBezTo>
                <a:cubicBezTo>
                  <a:pt x="5850" y="11978"/>
                  <a:pt x="5860" y="12025"/>
                  <a:pt x="5860" y="12067"/>
                </a:cubicBezTo>
                <a:cubicBezTo>
                  <a:pt x="5860" y="12110"/>
                  <a:pt x="5875" y="12173"/>
                  <a:pt x="5893" y="12207"/>
                </a:cubicBezTo>
                <a:cubicBezTo>
                  <a:pt x="5911" y="12241"/>
                  <a:pt x="5926" y="12295"/>
                  <a:pt x="5926" y="12328"/>
                </a:cubicBezTo>
                <a:cubicBezTo>
                  <a:pt x="5926" y="12361"/>
                  <a:pt x="5941" y="12410"/>
                  <a:pt x="5959" y="12439"/>
                </a:cubicBezTo>
                <a:cubicBezTo>
                  <a:pt x="5977" y="12467"/>
                  <a:pt x="5990" y="12517"/>
                  <a:pt x="5990" y="12547"/>
                </a:cubicBezTo>
                <a:cubicBezTo>
                  <a:pt x="5990" y="12578"/>
                  <a:pt x="6015" y="12633"/>
                  <a:pt x="6045" y="12670"/>
                </a:cubicBezTo>
                <a:cubicBezTo>
                  <a:pt x="6074" y="12708"/>
                  <a:pt x="6099" y="12762"/>
                  <a:pt x="6099" y="12789"/>
                </a:cubicBezTo>
                <a:cubicBezTo>
                  <a:pt x="6099" y="12845"/>
                  <a:pt x="6351" y="13310"/>
                  <a:pt x="6382" y="13310"/>
                </a:cubicBezTo>
                <a:cubicBezTo>
                  <a:pt x="6394" y="13310"/>
                  <a:pt x="6404" y="13336"/>
                  <a:pt x="6404" y="13368"/>
                </a:cubicBezTo>
                <a:cubicBezTo>
                  <a:pt x="6404" y="13399"/>
                  <a:pt x="6433" y="13446"/>
                  <a:pt x="6468" y="13474"/>
                </a:cubicBezTo>
                <a:cubicBezTo>
                  <a:pt x="6504" y="13502"/>
                  <a:pt x="6559" y="13570"/>
                  <a:pt x="6592" y="13626"/>
                </a:cubicBezTo>
                <a:cubicBezTo>
                  <a:pt x="6640" y="13706"/>
                  <a:pt x="6806" y="13882"/>
                  <a:pt x="6859" y="13908"/>
                </a:cubicBezTo>
                <a:cubicBezTo>
                  <a:pt x="6865" y="13911"/>
                  <a:pt x="6899" y="13942"/>
                  <a:pt x="6935" y="13978"/>
                </a:cubicBezTo>
                <a:cubicBezTo>
                  <a:pt x="7015" y="14057"/>
                  <a:pt x="7413" y="14307"/>
                  <a:pt x="7489" y="14325"/>
                </a:cubicBezTo>
                <a:cubicBezTo>
                  <a:pt x="7507" y="14330"/>
                  <a:pt x="7538" y="14347"/>
                  <a:pt x="7558" y="14364"/>
                </a:cubicBezTo>
                <a:cubicBezTo>
                  <a:pt x="7595" y="14394"/>
                  <a:pt x="8258" y="14367"/>
                  <a:pt x="8399" y="14330"/>
                </a:cubicBezTo>
                <a:cubicBezTo>
                  <a:pt x="8479" y="14309"/>
                  <a:pt x="8620" y="14235"/>
                  <a:pt x="8694" y="14176"/>
                </a:cubicBezTo>
                <a:cubicBezTo>
                  <a:pt x="8718" y="14157"/>
                  <a:pt x="8781" y="14120"/>
                  <a:pt x="8834" y="14094"/>
                </a:cubicBezTo>
                <a:cubicBezTo>
                  <a:pt x="8888" y="14068"/>
                  <a:pt x="9026" y="13958"/>
                  <a:pt x="9139" y="13850"/>
                </a:cubicBezTo>
                <a:lnTo>
                  <a:pt x="9345" y="13655"/>
                </a:lnTo>
                <a:lnTo>
                  <a:pt x="9450" y="13874"/>
                </a:lnTo>
                <a:cubicBezTo>
                  <a:pt x="9508" y="13995"/>
                  <a:pt x="9563" y="14092"/>
                  <a:pt x="9570" y="14089"/>
                </a:cubicBezTo>
                <a:cubicBezTo>
                  <a:pt x="9578" y="14086"/>
                  <a:pt x="9600" y="14096"/>
                  <a:pt x="9621" y="14113"/>
                </a:cubicBezTo>
                <a:cubicBezTo>
                  <a:pt x="9642" y="14130"/>
                  <a:pt x="9706" y="14137"/>
                  <a:pt x="9763" y="14125"/>
                </a:cubicBezTo>
                <a:cubicBezTo>
                  <a:pt x="9820" y="14113"/>
                  <a:pt x="9885" y="14099"/>
                  <a:pt x="9909" y="14094"/>
                </a:cubicBezTo>
                <a:cubicBezTo>
                  <a:pt x="9977" y="14080"/>
                  <a:pt x="10007" y="14092"/>
                  <a:pt x="10007" y="14135"/>
                </a:cubicBezTo>
                <a:cubicBezTo>
                  <a:pt x="10007" y="14173"/>
                  <a:pt x="10333" y="14800"/>
                  <a:pt x="10418" y="14926"/>
                </a:cubicBezTo>
                <a:cubicBezTo>
                  <a:pt x="10503" y="15053"/>
                  <a:pt x="10615" y="15257"/>
                  <a:pt x="10615" y="15288"/>
                </a:cubicBezTo>
                <a:cubicBezTo>
                  <a:pt x="10615" y="15305"/>
                  <a:pt x="10641" y="15350"/>
                  <a:pt x="10674" y="15387"/>
                </a:cubicBezTo>
                <a:cubicBezTo>
                  <a:pt x="10707" y="15424"/>
                  <a:pt x="10766" y="15512"/>
                  <a:pt x="10805" y="15582"/>
                </a:cubicBezTo>
                <a:cubicBezTo>
                  <a:pt x="10843" y="15652"/>
                  <a:pt x="10885" y="15710"/>
                  <a:pt x="10897" y="15710"/>
                </a:cubicBezTo>
                <a:cubicBezTo>
                  <a:pt x="10909" y="15710"/>
                  <a:pt x="10918" y="15724"/>
                  <a:pt x="10918" y="15741"/>
                </a:cubicBezTo>
                <a:cubicBezTo>
                  <a:pt x="10918" y="15759"/>
                  <a:pt x="10825" y="15766"/>
                  <a:pt x="10710" y="15758"/>
                </a:cubicBezTo>
                <a:cubicBezTo>
                  <a:pt x="10483" y="15743"/>
                  <a:pt x="10339" y="15796"/>
                  <a:pt x="10241" y="15932"/>
                </a:cubicBezTo>
                <a:cubicBezTo>
                  <a:pt x="10189" y="16004"/>
                  <a:pt x="10180" y="16044"/>
                  <a:pt x="10180" y="16234"/>
                </a:cubicBezTo>
                <a:cubicBezTo>
                  <a:pt x="10180" y="16353"/>
                  <a:pt x="10170" y="16463"/>
                  <a:pt x="10158" y="16477"/>
                </a:cubicBezTo>
                <a:cubicBezTo>
                  <a:pt x="10146" y="16492"/>
                  <a:pt x="10137" y="16741"/>
                  <a:pt x="10137" y="17083"/>
                </a:cubicBezTo>
                <a:cubicBezTo>
                  <a:pt x="10137" y="17572"/>
                  <a:pt x="10143" y="17673"/>
                  <a:pt x="10174" y="17732"/>
                </a:cubicBezTo>
                <a:cubicBezTo>
                  <a:pt x="10208" y="17797"/>
                  <a:pt x="10206" y="17803"/>
                  <a:pt x="10148" y="17816"/>
                </a:cubicBezTo>
                <a:cubicBezTo>
                  <a:pt x="10054" y="17837"/>
                  <a:pt x="9893" y="17661"/>
                  <a:pt x="9821" y="17459"/>
                </a:cubicBezTo>
                <a:cubicBezTo>
                  <a:pt x="9786" y="17362"/>
                  <a:pt x="9751" y="17283"/>
                  <a:pt x="9744" y="17283"/>
                </a:cubicBezTo>
                <a:cubicBezTo>
                  <a:pt x="9732" y="17283"/>
                  <a:pt x="9612" y="17116"/>
                  <a:pt x="9535" y="16994"/>
                </a:cubicBezTo>
                <a:cubicBezTo>
                  <a:pt x="9521" y="16971"/>
                  <a:pt x="9500" y="16953"/>
                  <a:pt x="9489" y="16953"/>
                </a:cubicBezTo>
                <a:cubicBezTo>
                  <a:pt x="9479" y="16953"/>
                  <a:pt x="9454" y="16918"/>
                  <a:pt x="9434" y="16875"/>
                </a:cubicBezTo>
                <a:cubicBezTo>
                  <a:pt x="9413" y="16832"/>
                  <a:pt x="9351" y="16764"/>
                  <a:pt x="9295" y="16726"/>
                </a:cubicBezTo>
                <a:cubicBezTo>
                  <a:pt x="9239" y="16687"/>
                  <a:pt x="9171" y="16638"/>
                  <a:pt x="9144" y="16617"/>
                </a:cubicBezTo>
                <a:cubicBezTo>
                  <a:pt x="9117" y="16596"/>
                  <a:pt x="9072" y="16563"/>
                  <a:pt x="9046" y="16542"/>
                </a:cubicBezTo>
                <a:cubicBezTo>
                  <a:pt x="9019" y="16521"/>
                  <a:pt x="8968" y="16492"/>
                  <a:pt x="8932" y="16477"/>
                </a:cubicBezTo>
                <a:cubicBezTo>
                  <a:pt x="8826" y="16433"/>
                  <a:pt x="8010" y="16451"/>
                  <a:pt x="7868" y="16501"/>
                </a:cubicBezTo>
                <a:cubicBezTo>
                  <a:pt x="7797" y="16527"/>
                  <a:pt x="7689" y="16562"/>
                  <a:pt x="7629" y="16579"/>
                </a:cubicBezTo>
                <a:cubicBezTo>
                  <a:pt x="7570" y="16595"/>
                  <a:pt x="7477" y="16640"/>
                  <a:pt x="7423" y="16678"/>
                </a:cubicBezTo>
                <a:cubicBezTo>
                  <a:pt x="7369" y="16715"/>
                  <a:pt x="7315" y="16745"/>
                  <a:pt x="7302" y="16745"/>
                </a:cubicBezTo>
                <a:cubicBezTo>
                  <a:pt x="7288" y="16745"/>
                  <a:pt x="7239" y="16777"/>
                  <a:pt x="7193" y="16815"/>
                </a:cubicBezTo>
                <a:cubicBezTo>
                  <a:pt x="7147" y="16854"/>
                  <a:pt x="7102" y="16888"/>
                  <a:pt x="7093" y="16892"/>
                </a:cubicBezTo>
                <a:cubicBezTo>
                  <a:pt x="7084" y="16896"/>
                  <a:pt x="7069" y="16906"/>
                  <a:pt x="7060" y="16912"/>
                </a:cubicBezTo>
                <a:cubicBezTo>
                  <a:pt x="7051" y="16917"/>
                  <a:pt x="7036" y="16917"/>
                  <a:pt x="7026" y="16914"/>
                </a:cubicBezTo>
                <a:cubicBezTo>
                  <a:pt x="7016" y="16911"/>
                  <a:pt x="6976" y="16945"/>
                  <a:pt x="6939" y="16989"/>
                </a:cubicBezTo>
                <a:cubicBezTo>
                  <a:pt x="6901" y="17032"/>
                  <a:pt x="6846" y="17080"/>
                  <a:pt x="6816" y="17097"/>
                </a:cubicBezTo>
                <a:cubicBezTo>
                  <a:pt x="6786" y="17114"/>
                  <a:pt x="6677" y="17208"/>
                  <a:pt x="6573" y="17305"/>
                </a:cubicBezTo>
                <a:cubicBezTo>
                  <a:pt x="6470" y="17401"/>
                  <a:pt x="6358" y="17494"/>
                  <a:pt x="6324" y="17510"/>
                </a:cubicBezTo>
                <a:cubicBezTo>
                  <a:pt x="6290" y="17526"/>
                  <a:pt x="6185" y="17611"/>
                  <a:pt x="6090" y="17700"/>
                </a:cubicBezTo>
                <a:cubicBezTo>
                  <a:pt x="5996" y="17790"/>
                  <a:pt x="5902" y="17864"/>
                  <a:pt x="5883" y="17864"/>
                </a:cubicBezTo>
                <a:cubicBezTo>
                  <a:pt x="5863" y="17864"/>
                  <a:pt x="5838" y="17879"/>
                  <a:pt x="5827" y="17898"/>
                </a:cubicBezTo>
                <a:cubicBezTo>
                  <a:pt x="5816" y="17918"/>
                  <a:pt x="5758" y="17958"/>
                  <a:pt x="5698" y="17988"/>
                </a:cubicBezTo>
                <a:cubicBezTo>
                  <a:pt x="5638" y="18017"/>
                  <a:pt x="5560" y="18072"/>
                  <a:pt x="5525" y="18108"/>
                </a:cubicBezTo>
                <a:cubicBezTo>
                  <a:pt x="5489" y="18145"/>
                  <a:pt x="5443" y="18212"/>
                  <a:pt x="5422" y="18258"/>
                </a:cubicBezTo>
                <a:cubicBezTo>
                  <a:pt x="5386" y="18337"/>
                  <a:pt x="5384" y="18228"/>
                  <a:pt x="5383" y="15968"/>
                </a:cubicBezTo>
                <a:cubicBezTo>
                  <a:pt x="5382" y="13302"/>
                  <a:pt x="5375" y="13442"/>
                  <a:pt x="5545" y="13351"/>
                </a:cubicBezTo>
                <a:cubicBezTo>
                  <a:pt x="5597" y="13323"/>
                  <a:pt x="5666" y="13249"/>
                  <a:pt x="5698" y="13184"/>
                </a:cubicBezTo>
                <a:cubicBezTo>
                  <a:pt x="5752" y="13077"/>
                  <a:pt x="5756" y="13045"/>
                  <a:pt x="5747" y="12810"/>
                </a:cubicBezTo>
                <a:cubicBezTo>
                  <a:pt x="5741" y="12628"/>
                  <a:pt x="5728" y="12544"/>
                  <a:pt x="5702" y="12516"/>
                </a:cubicBezTo>
                <a:cubicBezTo>
                  <a:pt x="5682" y="12495"/>
                  <a:pt x="5665" y="12443"/>
                  <a:pt x="5665" y="12400"/>
                </a:cubicBezTo>
                <a:cubicBezTo>
                  <a:pt x="5665" y="12293"/>
                  <a:pt x="5516" y="12067"/>
                  <a:pt x="5445" y="12067"/>
                </a:cubicBezTo>
                <a:cubicBezTo>
                  <a:pt x="5378" y="12067"/>
                  <a:pt x="5318" y="11945"/>
                  <a:pt x="5262" y="11696"/>
                </a:cubicBezTo>
                <a:cubicBezTo>
                  <a:pt x="5254" y="11662"/>
                  <a:pt x="5225" y="11543"/>
                  <a:pt x="5196" y="11433"/>
                </a:cubicBezTo>
                <a:cubicBezTo>
                  <a:pt x="5167" y="11323"/>
                  <a:pt x="5144" y="11204"/>
                  <a:pt x="5144" y="11172"/>
                </a:cubicBezTo>
                <a:cubicBezTo>
                  <a:pt x="5144" y="11140"/>
                  <a:pt x="5135" y="11114"/>
                  <a:pt x="5123" y="11114"/>
                </a:cubicBezTo>
                <a:cubicBezTo>
                  <a:pt x="5111" y="11114"/>
                  <a:pt x="5101" y="11078"/>
                  <a:pt x="5101" y="11032"/>
                </a:cubicBezTo>
                <a:cubicBezTo>
                  <a:pt x="5101" y="10987"/>
                  <a:pt x="5081" y="10911"/>
                  <a:pt x="5057" y="10866"/>
                </a:cubicBezTo>
                <a:cubicBezTo>
                  <a:pt x="5033" y="10820"/>
                  <a:pt x="5014" y="10766"/>
                  <a:pt x="5014" y="10743"/>
                </a:cubicBezTo>
                <a:cubicBezTo>
                  <a:pt x="5014" y="10692"/>
                  <a:pt x="4970" y="10538"/>
                  <a:pt x="4933" y="10461"/>
                </a:cubicBezTo>
                <a:cubicBezTo>
                  <a:pt x="4918" y="10430"/>
                  <a:pt x="4905" y="10382"/>
                  <a:pt x="4905" y="10352"/>
                </a:cubicBezTo>
                <a:cubicBezTo>
                  <a:pt x="4905" y="10322"/>
                  <a:pt x="4891" y="10274"/>
                  <a:pt x="4874" y="10246"/>
                </a:cubicBezTo>
                <a:cubicBezTo>
                  <a:pt x="4856" y="10218"/>
                  <a:pt x="4846" y="10179"/>
                  <a:pt x="4852" y="10159"/>
                </a:cubicBezTo>
                <a:cubicBezTo>
                  <a:pt x="4858" y="10139"/>
                  <a:pt x="4844" y="10090"/>
                  <a:pt x="4819" y="10050"/>
                </a:cubicBezTo>
                <a:cubicBezTo>
                  <a:pt x="4795" y="10011"/>
                  <a:pt x="4775" y="9954"/>
                  <a:pt x="4775" y="9925"/>
                </a:cubicBezTo>
                <a:cubicBezTo>
                  <a:pt x="4775" y="9896"/>
                  <a:pt x="4765" y="9872"/>
                  <a:pt x="4753" y="9872"/>
                </a:cubicBezTo>
                <a:cubicBezTo>
                  <a:pt x="4742" y="9872"/>
                  <a:pt x="4732" y="9836"/>
                  <a:pt x="4732" y="9792"/>
                </a:cubicBezTo>
                <a:cubicBezTo>
                  <a:pt x="4732" y="9748"/>
                  <a:pt x="4702" y="9658"/>
                  <a:pt x="4666" y="9590"/>
                </a:cubicBezTo>
                <a:cubicBezTo>
                  <a:pt x="4630" y="9521"/>
                  <a:pt x="4602" y="9449"/>
                  <a:pt x="4602" y="9430"/>
                </a:cubicBezTo>
                <a:cubicBezTo>
                  <a:pt x="4602" y="9412"/>
                  <a:pt x="4547" y="9296"/>
                  <a:pt x="4482" y="9172"/>
                </a:cubicBezTo>
                <a:cubicBezTo>
                  <a:pt x="4416" y="9048"/>
                  <a:pt x="4363" y="8931"/>
                  <a:pt x="4363" y="8912"/>
                </a:cubicBezTo>
                <a:cubicBezTo>
                  <a:pt x="4363" y="8893"/>
                  <a:pt x="4338" y="8829"/>
                  <a:pt x="4308" y="8772"/>
                </a:cubicBezTo>
                <a:cubicBezTo>
                  <a:pt x="4262" y="8683"/>
                  <a:pt x="4254" y="8632"/>
                  <a:pt x="4254" y="8408"/>
                </a:cubicBezTo>
                <a:cubicBezTo>
                  <a:pt x="4254" y="8225"/>
                  <a:pt x="4264" y="8130"/>
                  <a:pt x="4287" y="8094"/>
                </a:cubicBezTo>
                <a:cubicBezTo>
                  <a:pt x="4310" y="8058"/>
                  <a:pt x="4320" y="7959"/>
                  <a:pt x="4320" y="7768"/>
                </a:cubicBezTo>
                <a:lnTo>
                  <a:pt x="4320" y="7498"/>
                </a:lnTo>
                <a:close/>
                <a:moveTo>
                  <a:pt x="4809" y="13932"/>
                </a:moveTo>
                <a:cubicBezTo>
                  <a:pt x="4830" y="13925"/>
                  <a:pt x="4858" y="13943"/>
                  <a:pt x="4889" y="13988"/>
                </a:cubicBezTo>
                <a:cubicBezTo>
                  <a:pt x="4936" y="14056"/>
                  <a:pt x="4938" y="14121"/>
                  <a:pt x="4893" y="14154"/>
                </a:cubicBezTo>
                <a:cubicBezTo>
                  <a:pt x="4811" y="14213"/>
                  <a:pt x="4775" y="14173"/>
                  <a:pt x="4775" y="14026"/>
                </a:cubicBezTo>
                <a:cubicBezTo>
                  <a:pt x="4775" y="13971"/>
                  <a:pt x="4788" y="13939"/>
                  <a:pt x="4809" y="13932"/>
                </a:cubicBezTo>
                <a:close/>
                <a:moveTo>
                  <a:pt x="11146" y="16123"/>
                </a:moveTo>
                <a:lnTo>
                  <a:pt x="11209" y="16217"/>
                </a:lnTo>
                <a:cubicBezTo>
                  <a:pt x="11244" y="16269"/>
                  <a:pt x="11291" y="16343"/>
                  <a:pt x="11313" y="16383"/>
                </a:cubicBezTo>
                <a:cubicBezTo>
                  <a:pt x="11335" y="16423"/>
                  <a:pt x="11359" y="16456"/>
                  <a:pt x="11366" y="16456"/>
                </a:cubicBezTo>
                <a:cubicBezTo>
                  <a:pt x="11374" y="16456"/>
                  <a:pt x="11442" y="16549"/>
                  <a:pt x="11518" y="16663"/>
                </a:cubicBezTo>
                <a:cubicBezTo>
                  <a:pt x="11594" y="16777"/>
                  <a:pt x="11663" y="16871"/>
                  <a:pt x="11673" y="16871"/>
                </a:cubicBezTo>
                <a:cubicBezTo>
                  <a:pt x="11684" y="16871"/>
                  <a:pt x="11715" y="16917"/>
                  <a:pt x="11743" y="16974"/>
                </a:cubicBezTo>
                <a:cubicBezTo>
                  <a:pt x="11771" y="17031"/>
                  <a:pt x="11807" y="17078"/>
                  <a:pt x="11821" y="17078"/>
                </a:cubicBezTo>
                <a:cubicBezTo>
                  <a:pt x="11836" y="17078"/>
                  <a:pt x="11852" y="17100"/>
                  <a:pt x="11858" y="17129"/>
                </a:cubicBezTo>
                <a:cubicBezTo>
                  <a:pt x="11864" y="17157"/>
                  <a:pt x="11916" y="17226"/>
                  <a:pt x="11973" y="17283"/>
                </a:cubicBezTo>
                <a:cubicBezTo>
                  <a:pt x="12030" y="17340"/>
                  <a:pt x="12094" y="17415"/>
                  <a:pt x="12115" y="17450"/>
                </a:cubicBezTo>
                <a:cubicBezTo>
                  <a:pt x="12172" y="17543"/>
                  <a:pt x="12240" y="17639"/>
                  <a:pt x="12380" y="17823"/>
                </a:cubicBezTo>
                <a:cubicBezTo>
                  <a:pt x="12482" y="17958"/>
                  <a:pt x="12532" y="17996"/>
                  <a:pt x="12623" y="18007"/>
                </a:cubicBezTo>
                <a:cubicBezTo>
                  <a:pt x="12735" y="18020"/>
                  <a:pt x="12868" y="17987"/>
                  <a:pt x="12943" y="17927"/>
                </a:cubicBezTo>
                <a:cubicBezTo>
                  <a:pt x="12972" y="17904"/>
                  <a:pt x="12981" y="17916"/>
                  <a:pt x="12981" y="17978"/>
                </a:cubicBezTo>
                <a:cubicBezTo>
                  <a:pt x="12981" y="18023"/>
                  <a:pt x="12996" y="18084"/>
                  <a:pt x="13014" y="18113"/>
                </a:cubicBezTo>
                <a:cubicBezTo>
                  <a:pt x="13074" y="18208"/>
                  <a:pt x="13042" y="18287"/>
                  <a:pt x="12937" y="18301"/>
                </a:cubicBezTo>
                <a:cubicBezTo>
                  <a:pt x="12883" y="18309"/>
                  <a:pt x="12805" y="18348"/>
                  <a:pt x="12762" y="18390"/>
                </a:cubicBezTo>
                <a:cubicBezTo>
                  <a:pt x="12692" y="18460"/>
                  <a:pt x="12619" y="18470"/>
                  <a:pt x="11997" y="18480"/>
                </a:cubicBezTo>
                <a:lnTo>
                  <a:pt x="11309" y="18492"/>
                </a:lnTo>
                <a:lnTo>
                  <a:pt x="11308" y="18250"/>
                </a:lnTo>
                <a:cubicBezTo>
                  <a:pt x="11307" y="17981"/>
                  <a:pt x="11274" y="17902"/>
                  <a:pt x="11139" y="17845"/>
                </a:cubicBezTo>
                <a:lnTo>
                  <a:pt x="11066" y="17814"/>
                </a:lnTo>
                <a:lnTo>
                  <a:pt x="11122" y="17703"/>
                </a:lnTo>
                <a:cubicBezTo>
                  <a:pt x="11176" y="17595"/>
                  <a:pt x="11179" y="17570"/>
                  <a:pt x="11179" y="17092"/>
                </a:cubicBezTo>
                <a:cubicBezTo>
                  <a:pt x="11179" y="16798"/>
                  <a:pt x="11170" y="16578"/>
                  <a:pt x="11156" y="16552"/>
                </a:cubicBezTo>
                <a:cubicBezTo>
                  <a:pt x="11144" y="16528"/>
                  <a:pt x="11136" y="16422"/>
                  <a:pt x="11140" y="16316"/>
                </a:cubicBezTo>
                <a:lnTo>
                  <a:pt x="11146" y="16123"/>
                </a:lnTo>
                <a:close/>
                <a:moveTo>
                  <a:pt x="838" y="18979"/>
                </a:moveTo>
                <a:cubicBezTo>
                  <a:pt x="840" y="18988"/>
                  <a:pt x="842" y="19018"/>
                  <a:pt x="843" y="19068"/>
                </a:cubicBezTo>
                <a:cubicBezTo>
                  <a:pt x="845" y="19170"/>
                  <a:pt x="832" y="19242"/>
                  <a:pt x="803" y="19293"/>
                </a:cubicBezTo>
                <a:cubicBezTo>
                  <a:pt x="760" y="19366"/>
                  <a:pt x="759" y="19364"/>
                  <a:pt x="759" y="19261"/>
                </a:cubicBezTo>
                <a:cubicBezTo>
                  <a:pt x="759" y="19203"/>
                  <a:pt x="773" y="19146"/>
                  <a:pt x="790" y="19133"/>
                </a:cubicBezTo>
                <a:cubicBezTo>
                  <a:pt x="807" y="19121"/>
                  <a:pt x="825" y="19068"/>
                  <a:pt x="831" y="19015"/>
                </a:cubicBezTo>
                <a:cubicBezTo>
                  <a:pt x="834" y="18983"/>
                  <a:pt x="836" y="18970"/>
                  <a:pt x="838" y="18979"/>
                </a:cubicBezTo>
                <a:close/>
                <a:moveTo>
                  <a:pt x="727" y="19546"/>
                </a:moveTo>
                <a:cubicBezTo>
                  <a:pt x="752" y="19527"/>
                  <a:pt x="759" y="19556"/>
                  <a:pt x="759" y="19681"/>
                </a:cubicBezTo>
                <a:cubicBezTo>
                  <a:pt x="759" y="19785"/>
                  <a:pt x="748" y="19851"/>
                  <a:pt x="727" y="19867"/>
                </a:cubicBezTo>
                <a:cubicBezTo>
                  <a:pt x="701" y="19885"/>
                  <a:pt x="694" y="19854"/>
                  <a:pt x="694" y="19729"/>
                </a:cubicBezTo>
                <a:cubicBezTo>
                  <a:pt x="694" y="19625"/>
                  <a:pt x="706" y="19561"/>
                  <a:pt x="727" y="19546"/>
                </a:cubicBezTo>
                <a:close/>
              </a:path>
            </a:pathLst>
          </a:custGeom>
          <a:ln w="12700">
            <a:miter lim="400000"/>
          </a:ln>
        </p:spPr>
      </p:pic>
      <p:sp>
        <p:nvSpPr>
          <p:cNvPr id="40" name="Text 5"/>
          <p:cNvSpPr txBox="1"/>
          <p:nvPr/>
        </p:nvSpPr>
        <p:spPr>
          <a:xfrm>
            <a:off x="713231" y="2034032"/>
            <a:ext cx="6217922" cy="1234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defTabSz="813816">
              <a:defRPr sz="3827" b="1">
                <a:solidFill>
                  <a:srgbClr val="212B48"/>
                </a:solidFill>
              </a:defRPr>
            </a:lvl1pPr>
          </a:lstStyle>
          <a:p>
            <a:r>
              <a:rPr dirty="0" err="1"/>
              <a:t>Hypertonie</a:t>
            </a:r>
            <a:r>
              <a:t>, Risikofaktoren und Machine Learning</a:t>
            </a:r>
          </a:p>
        </p:txBody>
      </p:sp>
      <p:sp>
        <p:nvSpPr>
          <p:cNvPr id="41" name="Text 6"/>
          <p:cNvSpPr txBox="1"/>
          <p:nvPr/>
        </p:nvSpPr>
        <p:spPr>
          <a:xfrm>
            <a:off x="749806" y="3352968"/>
            <a:ext cx="5716307" cy="5539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defRPr>
                <a:solidFill>
                  <a:srgbClr val="212B48"/>
                </a:solidFill>
              </a:defRPr>
            </a:lvl1pPr>
          </a:lstStyle>
          <a:p>
            <a:r>
              <a:rPr dirty="0" err="1"/>
              <a:t>Analyse</a:t>
            </a:r>
            <a:r>
              <a:rPr dirty="0"/>
              <a:t> von Public-Health-Trends in Deutschland und </a:t>
            </a:r>
            <a:r>
              <a:rPr dirty="0" err="1"/>
              <a:t>individuelle</a:t>
            </a:r>
            <a:r>
              <a:rPr dirty="0"/>
              <a:t> </a:t>
            </a:r>
            <a:r>
              <a:rPr dirty="0" err="1"/>
              <a:t>Risikovorhersage</a:t>
            </a:r>
            <a:r>
              <a:rPr dirty="0"/>
              <a:t> </a:t>
            </a:r>
            <a:r>
              <a:rPr dirty="0" err="1"/>
              <a:t>mit</a:t>
            </a:r>
            <a:r>
              <a:rPr dirty="0"/>
              <a:t> NHANES</a:t>
            </a:r>
            <a:r>
              <a:rPr lang="de-DE" dirty="0"/>
              <a:t>-Daten</a:t>
            </a:r>
            <a:endParaRPr dirty="0"/>
          </a:p>
        </p:txBody>
      </p:sp>
      <p:sp>
        <p:nvSpPr>
          <p:cNvPr id="42" name="Text 15"/>
          <p:cNvSpPr txBox="1"/>
          <p:nvPr/>
        </p:nvSpPr>
        <p:spPr>
          <a:xfrm>
            <a:off x="768095" y="5643320"/>
            <a:ext cx="4187509" cy="1982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212B48"/>
                </a:solidFill>
              </a:defRPr>
            </a:lvl1pPr>
          </a:lstStyle>
          <a:p>
            <a:r>
              <a:t>Abschlussprojekt · Data Science · Streamlit-App</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Hypertonie &amp; Projektstruktur</a:t>
            </a:r>
          </a:p>
        </p:txBody>
      </p:sp>
      <p:grpSp>
        <p:nvGrpSpPr>
          <p:cNvPr id="47" name="Gruppieren"/>
          <p:cNvGrpSpPr/>
          <p:nvPr/>
        </p:nvGrpSpPr>
        <p:grpSpPr>
          <a:xfrm>
            <a:off x="665075" y="4008120"/>
            <a:ext cx="8124746" cy="2056973"/>
            <a:chOff x="0" y="0"/>
            <a:chExt cx="8124745" cy="2056972"/>
          </a:xfrm>
        </p:grpSpPr>
        <p:sp>
          <p:nvSpPr>
            <p:cNvPr id="45" name="Shape 2"/>
            <p:cNvSpPr/>
            <p:nvPr/>
          </p:nvSpPr>
          <p:spPr>
            <a:xfrm>
              <a:off x="0" y="0"/>
              <a:ext cx="8124746" cy="2032000"/>
            </a:xfrm>
            <a:prstGeom prst="roundRect">
              <a:avLst>
                <a:gd name="adj" fmla="val 3800"/>
              </a:avLst>
            </a:prstGeom>
            <a:solidFill>
              <a:srgbClr val="DFF3FA"/>
            </a:solidFill>
            <a:ln w="12700" cap="flat">
              <a:solidFill>
                <a:srgbClr val="DFF3FA">
                  <a:alpha val="0"/>
                </a:srgbClr>
              </a:solidFill>
              <a:prstDash val="solid"/>
              <a:round/>
            </a:ln>
            <a:effectLst/>
          </p:spPr>
          <p:txBody>
            <a:bodyPr wrap="square" lIns="45719" tIns="45719" rIns="45719" bIns="45719" numCol="1" anchor="t">
              <a:noAutofit/>
            </a:bodyPr>
            <a:lstStyle/>
            <a:p>
              <a:endParaRPr/>
            </a:p>
          </p:txBody>
        </p:sp>
        <p:sp>
          <p:nvSpPr>
            <p:cNvPr id="46" name="Aufbau des Projekts…"/>
            <p:cNvSpPr txBox="1"/>
            <p:nvPr/>
          </p:nvSpPr>
          <p:spPr>
            <a:xfrm>
              <a:off x="283083" y="76627"/>
              <a:ext cx="7558579" cy="19803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a:defRPr b="1">
                  <a:solidFill>
                    <a:srgbClr val="212B48"/>
                  </a:solidFill>
                </a:defRPr>
              </a:pPr>
              <a:r>
                <a:t>Aufbau des Projekts</a:t>
              </a:r>
            </a:p>
            <a:p>
              <a:endParaRPr/>
            </a:p>
            <a:p>
              <a:pPr marL="140368" indent="-140368" defTabSz="12700">
                <a:lnSpc>
                  <a:spcPct val="135000"/>
                </a:lnSpc>
                <a:buSzPct val="100000"/>
                <a:buChar char="•"/>
                <a:defRPr sz="1400">
                  <a:latin typeface="+mn-lt"/>
                  <a:ea typeface="+mn-ea"/>
                  <a:cs typeface="+mn-cs"/>
                  <a:sym typeface="Helvetica"/>
                </a:defRPr>
              </a:pPr>
              <a:r>
                <a:rPr b="1">
                  <a:solidFill>
                    <a:srgbClr val="212B48"/>
                  </a:solidFill>
                  <a:latin typeface="+mj-lt"/>
                  <a:ea typeface="+mj-ea"/>
                  <a:cs typeface="+mj-cs"/>
                  <a:sym typeface="Helvetica Neue"/>
                </a:rPr>
                <a:t>WHO-Daten:</a:t>
              </a:r>
              <a:r>
                <a:t> Public-Health-Perspektive auf Deutschland</a:t>
              </a:r>
            </a:p>
            <a:p>
              <a:pPr defTabSz="12700">
                <a:lnSpc>
                  <a:spcPct val="135000"/>
                </a:lnSpc>
                <a:defRPr sz="1400">
                  <a:latin typeface="+mn-lt"/>
                  <a:ea typeface="+mn-ea"/>
                  <a:cs typeface="+mn-cs"/>
                  <a:sym typeface="Helvetica"/>
                </a:defRPr>
              </a:pPr>
              <a:r>
                <a:t>    Analyse von Prävalenz, Mortalität und Geschlechterunterschieden im Zeitraum 2000–2019</a:t>
              </a:r>
            </a:p>
            <a:p>
              <a:pPr marL="140368" indent="-140368" defTabSz="12700">
                <a:lnSpc>
                  <a:spcPct val="135000"/>
                </a:lnSpc>
                <a:buSzPct val="100000"/>
                <a:buChar char="•"/>
                <a:defRPr sz="1400">
                  <a:latin typeface="+mn-lt"/>
                  <a:ea typeface="+mn-ea"/>
                  <a:cs typeface="+mn-cs"/>
                  <a:sym typeface="Helvetica"/>
                </a:defRPr>
              </a:pPr>
              <a:r>
                <a:rPr b="1">
                  <a:solidFill>
                    <a:srgbClr val="212B48"/>
                  </a:solidFill>
                  <a:latin typeface="+mj-lt"/>
                  <a:ea typeface="+mj-ea"/>
                  <a:cs typeface="+mj-cs"/>
                  <a:sym typeface="Helvetica Neue"/>
                </a:rPr>
                <a:t>NHANES-Daten:</a:t>
              </a:r>
              <a:r>
                <a:t> individuelle Risikoperspektive mit Machine Learning</a:t>
              </a:r>
            </a:p>
            <a:p>
              <a:pPr defTabSz="12700">
                <a:lnSpc>
                  <a:spcPct val="135000"/>
                </a:lnSpc>
                <a:defRPr sz="1400">
                  <a:latin typeface="+mn-lt"/>
                  <a:ea typeface="+mn-ea"/>
                  <a:cs typeface="+mn-cs"/>
                  <a:sym typeface="Helvetica"/>
                </a:defRPr>
              </a:pPr>
              <a:r>
                <a:t>    Vorhersage des Hypertonie-Status anhand persönlicher Gesundheits- und Körpermerkmale</a:t>
              </a:r>
            </a:p>
          </p:txBody>
        </p:sp>
      </p:grpSp>
      <p:sp>
        <p:nvSpPr>
          <p:cNvPr id="48" name="Shape 5"/>
          <p:cNvSpPr/>
          <p:nvPr/>
        </p:nvSpPr>
        <p:spPr>
          <a:xfrm>
            <a:off x="659995" y="1394510"/>
            <a:ext cx="8134906" cy="2314398"/>
          </a:xfrm>
          <a:prstGeom prst="roundRect">
            <a:avLst>
              <a:gd name="adj" fmla="val 3498"/>
            </a:avLst>
          </a:prstGeom>
          <a:solidFill>
            <a:srgbClr val="FFFFFF"/>
          </a:solidFill>
          <a:ln w="7620">
            <a:solidFill>
              <a:srgbClr val="DDE7F0"/>
            </a:solidFill>
          </a:ln>
        </p:spPr>
        <p:txBody>
          <a:bodyPr lIns="45719" rIns="45719"/>
          <a:lstStyle/>
          <a:p>
            <a:endParaRPr/>
          </a:p>
        </p:txBody>
      </p:sp>
      <p:sp>
        <p:nvSpPr>
          <p:cNvPr id="49" name="Was ist Hypertonie?…"/>
          <p:cNvSpPr txBox="1"/>
          <p:nvPr/>
        </p:nvSpPr>
        <p:spPr>
          <a:xfrm>
            <a:off x="934758" y="1529359"/>
            <a:ext cx="7734992" cy="2044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b="1">
                <a:solidFill>
                  <a:srgbClr val="212B48"/>
                </a:solidFill>
              </a:defRPr>
            </a:pPr>
            <a:r>
              <a:rPr dirty="0"/>
              <a:t>Was </a:t>
            </a:r>
            <a:r>
              <a:rPr dirty="0" err="1"/>
              <a:t>ist</a:t>
            </a:r>
            <a:r>
              <a:rPr dirty="0"/>
              <a:t> </a:t>
            </a:r>
            <a:r>
              <a:rPr dirty="0" err="1"/>
              <a:t>Hypertonie</a:t>
            </a:r>
            <a:r>
              <a:rPr dirty="0"/>
              <a:t>?</a:t>
            </a:r>
          </a:p>
          <a:p>
            <a:endParaRPr dirty="0"/>
          </a:p>
          <a:p>
            <a:pPr marL="140368" indent="-140368" defTabSz="12700">
              <a:lnSpc>
                <a:spcPct val="135000"/>
              </a:lnSpc>
              <a:buSzPct val="100000"/>
              <a:buChar char="•"/>
              <a:defRPr sz="1400">
                <a:latin typeface="+mn-lt"/>
                <a:ea typeface="+mn-ea"/>
                <a:cs typeface="+mn-cs"/>
                <a:sym typeface="Helvetica"/>
              </a:defRPr>
            </a:pPr>
            <a:r>
              <a:rPr dirty="0" err="1"/>
              <a:t>dauerhaft</a:t>
            </a:r>
            <a:r>
              <a:rPr dirty="0"/>
              <a:t> </a:t>
            </a:r>
            <a:r>
              <a:rPr dirty="0" err="1"/>
              <a:t>erhöhter</a:t>
            </a:r>
            <a:r>
              <a:rPr dirty="0"/>
              <a:t> </a:t>
            </a:r>
            <a:r>
              <a:rPr dirty="0" err="1"/>
              <a:t>Blutdruck</a:t>
            </a:r>
            <a:r>
              <a:rPr dirty="0"/>
              <a:t> in den </a:t>
            </a:r>
            <a:r>
              <a:rPr dirty="0" err="1"/>
              <a:t>Blutgefäßen</a:t>
            </a:r>
            <a:endParaRPr dirty="0"/>
          </a:p>
          <a:p>
            <a:pPr marL="140368" indent="-140368" defTabSz="12700">
              <a:lnSpc>
                <a:spcPct val="135000"/>
              </a:lnSpc>
              <a:buSzPct val="100000"/>
              <a:buChar char="•"/>
              <a:defRPr sz="1400">
                <a:latin typeface="+mn-lt"/>
                <a:ea typeface="+mn-ea"/>
                <a:cs typeface="+mn-cs"/>
                <a:sym typeface="Helvetica"/>
              </a:defRPr>
            </a:pPr>
            <a:r>
              <a:rPr dirty="0" err="1"/>
              <a:t>häufig</a:t>
            </a:r>
            <a:r>
              <a:rPr dirty="0"/>
              <a:t> </a:t>
            </a:r>
            <a:r>
              <a:rPr dirty="0" err="1"/>
              <a:t>lange</a:t>
            </a:r>
            <a:r>
              <a:rPr dirty="0"/>
              <a:t> </a:t>
            </a:r>
            <a:r>
              <a:rPr dirty="0" err="1"/>
              <a:t>unbemerkt</a:t>
            </a:r>
            <a:r>
              <a:rPr dirty="0"/>
              <a:t>, da oft </a:t>
            </a:r>
            <a:r>
              <a:rPr dirty="0" err="1"/>
              <a:t>keine</a:t>
            </a:r>
            <a:r>
              <a:rPr dirty="0"/>
              <a:t> </a:t>
            </a:r>
            <a:r>
              <a:rPr dirty="0" err="1"/>
              <a:t>direkten</a:t>
            </a:r>
            <a:r>
              <a:rPr dirty="0"/>
              <a:t> </a:t>
            </a:r>
            <a:r>
              <a:rPr dirty="0" err="1"/>
              <a:t>Symptome</a:t>
            </a:r>
            <a:r>
              <a:rPr dirty="0"/>
              <a:t> </a:t>
            </a:r>
            <a:r>
              <a:rPr dirty="0" err="1"/>
              <a:t>auftreten</a:t>
            </a:r>
            <a:endParaRPr dirty="0"/>
          </a:p>
          <a:p>
            <a:pPr marL="140368" indent="-140368" defTabSz="12700">
              <a:lnSpc>
                <a:spcPct val="135000"/>
              </a:lnSpc>
              <a:buSzPct val="100000"/>
              <a:buChar char="•"/>
              <a:defRPr sz="1400">
                <a:latin typeface="+mn-lt"/>
                <a:ea typeface="+mn-ea"/>
                <a:cs typeface="+mn-cs"/>
                <a:sym typeface="Helvetica"/>
              </a:defRPr>
            </a:pPr>
            <a:r>
              <a:rPr dirty="0" err="1"/>
              <a:t>wichtiger</a:t>
            </a:r>
            <a:r>
              <a:rPr dirty="0"/>
              <a:t> </a:t>
            </a:r>
            <a:r>
              <a:rPr dirty="0" err="1"/>
              <a:t>Risikofaktor</a:t>
            </a:r>
            <a:r>
              <a:rPr dirty="0"/>
              <a:t> für Herz-</a:t>
            </a:r>
            <a:r>
              <a:rPr dirty="0" err="1"/>
              <a:t>Kreislauf</a:t>
            </a:r>
            <a:r>
              <a:rPr dirty="0"/>
              <a:t>-</a:t>
            </a:r>
            <a:r>
              <a:rPr dirty="0" err="1"/>
              <a:t>Erkrankungen</a:t>
            </a:r>
            <a:endParaRPr dirty="0"/>
          </a:p>
          <a:p>
            <a:pPr marL="140368" indent="-140368" defTabSz="12700">
              <a:lnSpc>
                <a:spcPct val="135000"/>
              </a:lnSpc>
              <a:buSzPct val="100000"/>
              <a:buChar char="•"/>
              <a:defRPr sz="1400">
                <a:latin typeface="+mn-lt"/>
                <a:ea typeface="+mn-ea"/>
                <a:cs typeface="+mn-cs"/>
                <a:sym typeface="Helvetica"/>
              </a:defRPr>
            </a:pPr>
            <a:r>
              <a:rPr dirty="0" err="1"/>
              <a:t>beeinflusst</a:t>
            </a:r>
            <a:r>
              <a:rPr dirty="0"/>
              <a:t> </a:t>
            </a:r>
            <a:r>
              <a:rPr dirty="0" err="1"/>
              <a:t>durch</a:t>
            </a:r>
            <a:r>
              <a:rPr dirty="0"/>
              <a:t> Faktoren </a:t>
            </a:r>
            <a:r>
              <a:rPr dirty="0" err="1"/>
              <a:t>wie</a:t>
            </a:r>
            <a:r>
              <a:rPr dirty="0"/>
              <a:t> Alter, </a:t>
            </a:r>
            <a:r>
              <a:rPr dirty="0" err="1"/>
              <a:t>Übergewicht</a:t>
            </a:r>
            <a:r>
              <a:rPr dirty="0"/>
              <a:t>, </a:t>
            </a:r>
            <a:r>
              <a:rPr dirty="0" err="1"/>
              <a:t>Bewegungsmangel</a:t>
            </a:r>
            <a:r>
              <a:rPr dirty="0"/>
              <a:t>, </a:t>
            </a:r>
            <a:r>
              <a:rPr dirty="0" err="1"/>
              <a:t>Ernährung</a:t>
            </a:r>
            <a:r>
              <a:rPr dirty="0"/>
              <a:t> und </a:t>
            </a:r>
            <a:r>
              <a:rPr dirty="0" err="1"/>
              <a:t>Alkoholkonsum</a:t>
            </a:r>
            <a:endParaRPr dirty="0"/>
          </a:p>
        </p:txBody>
      </p:sp>
      <p:sp>
        <p:nvSpPr>
          <p:cNvPr id="50" name="Foliennummer"/>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2" name="Rectangle 2"/>
          <p:cNvSpPr/>
          <p:nvPr/>
        </p:nvSpPr>
        <p:spPr>
          <a:xfrm>
            <a:off x="0" y="0"/>
            <a:ext cx="321549" cy="6858000"/>
          </a:xfrm>
          <a:prstGeom prst="rect">
            <a:avLst/>
          </a:prstGeom>
          <a:solidFill>
            <a:srgbClr val="0F6B8C"/>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a:p>
        </p:txBody>
      </p:sp>
      <p:sp>
        <p:nvSpPr>
          <p:cNvPr id="53" name="Rectangle 19"/>
          <p:cNvSpPr/>
          <p:nvPr/>
        </p:nvSpPr>
        <p:spPr>
          <a:xfrm>
            <a:off x="768095" y="3227501"/>
            <a:ext cx="4480561" cy="32005"/>
          </a:xfrm>
          <a:prstGeom prst="rect">
            <a:avLst/>
          </a:prstGeom>
          <a:solidFill>
            <a:srgbClr val="158BB8"/>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a:p>
        </p:txBody>
      </p:sp>
      <p:grpSp>
        <p:nvGrpSpPr>
          <p:cNvPr id="68" name="Gruppieren"/>
          <p:cNvGrpSpPr/>
          <p:nvPr/>
        </p:nvGrpSpPr>
        <p:grpSpPr>
          <a:xfrm>
            <a:off x="8005063" y="910276"/>
            <a:ext cx="2737151" cy="5037448"/>
            <a:chOff x="0" y="0"/>
            <a:chExt cx="2737150" cy="5037446"/>
          </a:xfrm>
        </p:grpSpPr>
        <p:sp>
          <p:nvSpPr>
            <p:cNvPr id="54" name="Oval 4"/>
            <p:cNvSpPr/>
            <p:nvPr/>
          </p:nvSpPr>
          <p:spPr>
            <a:xfrm>
              <a:off x="0" y="511165"/>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55" name="Oval 5"/>
            <p:cNvSpPr/>
            <p:nvPr/>
          </p:nvSpPr>
          <p:spPr>
            <a:xfrm>
              <a:off x="281986" y="0"/>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56" name="Oval 6"/>
            <p:cNvSpPr/>
            <p:nvPr/>
          </p:nvSpPr>
          <p:spPr>
            <a:xfrm>
              <a:off x="666034" y="693054"/>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57" name="Oval 7"/>
            <p:cNvSpPr/>
            <p:nvPr/>
          </p:nvSpPr>
          <p:spPr>
            <a:xfrm>
              <a:off x="1008934" y="19112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58" name="Oval 8"/>
            <p:cNvSpPr/>
            <p:nvPr/>
          </p:nvSpPr>
          <p:spPr>
            <a:xfrm>
              <a:off x="1511853" y="511165"/>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59" name="Oval 9"/>
            <p:cNvSpPr/>
            <p:nvPr/>
          </p:nvSpPr>
          <p:spPr>
            <a:xfrm>
              <a:off x="2014774" y="83120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0" name="Oval 10"/>
            <p:cNvSpPr/>
            <p:nvPr/>
          </p:nvSpPr>
          <p:spPr>
            <a:xfrm>
              <a:off x="2517694" y="19112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1" name="Rectangle 11"/>
            <p:cNvSpPr/>
            <p:nvPr/>
          </p:nvSpPr>
          <p:spPr>
            <a:xfrm>
              <a:off x="231694" y="4123046"/>
              <a:ext cx="201169" cy="9144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2" name="Rectangle 12"/>
            <p:cNvSpPr/>
            <p:nvPr/>
          </p:nvSpPr>
          <p:spPr>
            <a:xfrm>
              <a:off x="615742" y="3574406"/>
              <a:ext cx="201169" cy="14630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3" name="Rectangle 13"/>
            <p:cNvSpPr/>
            <p:nvPr/>
          </p:nvSpPr>
          <p:spPr>
            <a:xfrm>
              <a:off x="999790" y="3894446"/>
              <a:ext cx="201169" cy="11430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4" name="Rectangle 14"/>
            <p:cNvSpPr/>
            <p:nvPr/>
          </p:nvSpPr>
          <p:spPr>
            <a:xfrm>
              <a:off x="1383838" y="3117206"/>
              <a:ext cx="201169" cy="19202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5" name="Rectangle 15"/>
            <p:cNvSpPr/>
            <p:nvPr/>
          </p:nvSpPr>
          <p:spPr>
            <a:xfrm>
              <a:off x="1767886" y="3620126"/>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6" name="Rectangle 16"/>
            <p:cNvSpPr/>
            <p:nvPr/>
          </p:nvSpPr>
          <p:spPr>
            <a:xfrm>
              <a:off x="2151934" y="2797166"/>
              <a:ext cx="201169" cy="224028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67" name="Rectangle 15"/>
            <p:cNvSpPr/>
            <p:nvPr/>
          </p:nvSpPr>
          <p:spPr>
            <a:xfrm>
              <a:off x="2535982" y="3620126"/>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grpSp>
      <p:sp>
        <p:nvSpPr>
          <p:cNvPr id="69" name="Text 5"/>
          <p:cNvSpPr txBox="1"/>
          <p:nvPr/>
        </p:nvSpPr>
        <p:spPr>
          <a:xfrm>
            <a:off x="713231" y="1078991"/>
            <a:ext cx="6217922" cy="1234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defTabSz="859536">
              <a:defRPr sz="4041" b="1">
                <a:solidFill>
                  <a:srgbClr val="212B48"/>
                </a:solidFill>
              </a:defRPr>
            </a:lvl1pPr>
          </a:lstStyle>
          <a:p>
            <a:r>
              <a:t>Hypertonie in Deutschland</a:t>
            </a:r>
          </a:p>
        </p:txBody>
      </p:sp>
      <p:sp>
        <p:nvSpPr>
          <p:cNvPr id="70" name="Text 6"/>
          <p:cNvSpPr txBox="1"/>
          <p:nvPr/>
        </p:nvSpPr>
        <p:spPr>
          <a:xfrm>
            <a:off x="749807" y="2556408"/>
            <a:ext cx="5120642" cy="27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a:solidFill>
                  <a:srgbClr val="212B48"/>
                </a:solidFill>
              </a:defRPr>
            </a:lvl1pPr>
          </a:lstStyle>
          <a:p>
            <a:r>
              <a:t>Analyse von WHO-Daten 2000–2019</a:t>
            </a:r>
          </a:p>
        </p:txBody>
      </p:sp>
      <p:sp>
        <p:nvSpPr>
          <p:cNvPr id="71" name="Text 8"/>
          <p:cNvSpPr txBox="1"/>
          <p:nvPr/>
        </p:nvSpPr>
        <p:spPr>
          <a:xfrm>
            <a:off x="768096" y="3657600"/>
            <a:ext cx="5669280" cy="548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a:solidFill>
                  <a:srgbClr val="212B48"/>
                </a:solidFill>
              </a:defRPr>
            </a:lvl1pPr>
          </a:lstStyle>
          <a:p>
            <a:r>
              <a:t>Prävalenz, Mortalität und Geschlechterunterschiede</a:t>
            </a:r>
          </a:p>
        </p:txBody>
      </p:sp>
      <p:sp>
        <p:nvSpPr>
          <p:cNvPr id="72" name="Text 15"/>
          <p:cNvSpPr txBox="1"/>
          <p:nvPr/>
        </p:nvSpPr>
        <p:spPr>
          <a:xfrm>
            <a:off x="768095" y="5643320"/>
            <a:ext cx="4620103" cy="1982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212B48"/>
                </a:solidFill>
              </a:defRPr>
            </a:lvl1pPr>
          </a:lstStyle>
          <a:p>
            <a:r>
              <a:t>Datenanalyse · WHO GHO · Deutschland 2000–2019</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Datenquelle &amp; Datensatz – WHO</a:t>
            </a:r>
          </a:p>
        </p:txBody>
      </p:sp>
      <p:sp>
        <p:nvSpPr>
          <p:cNvPr id="75" name="Datenquelle: WHO Global Health Observatory…"/>
          <p:cNvSpPr txBox="1"/>
          <p:nvPr/>
        </p:nvSpPr>
        <p:spPr>
          <a:xfrm>
            <a:off x="690005" y="1653602"/>
            <a:ext cx="9570543" cy="39991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b="1">
                <a:solidFill>
                  <a:srgbClr val="212B48"/>
                </a:solidFill>
              </a:defRPr>
            </a:pPr>
            <a:r>
              <a:t>Datenquelle: WHO Global Health Observatory</a:t>
            </a:r>
          </a:p>
          <a:p>
            <a:pPr marL="521368" lvl="1" indent="-140368" defTabSz="12700">
              <a:lnSpc>
                <a:spcPct val="135000"/>
              </a:lnSpc>
              <a:buSzPct val="100000"/>
              <a:buChar char="•"/>
              <a:defRPr sz="1400"/>
            </a:pPr>
            <a:r>
              <a:t>internationale Gesundheitsdatenbank der World Health Organization</a:t>
            </a:r>
          </a:p>
          <a:p>
            <a:pPr marL="521368" lvl="1" indent="-140368" defTabSz="12700">
              <a:lnSpc>
                <a:spcPct val="135000"/>
              </a:lnSpc>
              <a:buSzPct val="100000"/>
              <a:buChar char="•"/>
              <a:defRPr sz="1400"/>
            </a:pPr>
            <a:r>
              <a:t>enthält vergleichbare Gesundheitsindikatoren nach Ländern, Jahren und Bevölkerungsgruppen</a:t>
            </a:r>
          </a:p>
          <a:p>
            <a:pPr marL="521368" lvl="1" indent="-140368" defTabSz="12700">
              <a:lnSpc>
                <a:spcPct val="135000"/>
              </a:lnSpc>
              <a:buSzPct val="100000"/>
              <a:buChar char="•"/>
              <a:defRPr sz="1400"/>
            </a:pPr>
            <a:r>
              <a:t>geeignet für Public-Health-Analysen und zeitliche Trendvergleiche</a:t>
            </a:r>
          </a:p>
          <a:p>
            <a:pPr defTabSz="12700">
              <a:lnSpc>
                <a:spcPct val="135000"/>
              </a:lnSpc>
              <a:defRPr sz="1400"/>
            </a:pPr>
            <a:endParaRPr/>
          </a:p>
          <a:p>
            <a:pPr defTabSz="12700">
              <a:lnSpc>
                <a:spcPct val="135000"/>
              </a:lnSpc>
              <a:defRPr sz="1400"/>
            </a:pPr>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b="1">
                <a:solidFill>
                  <a:srgbClr val="212B48"/>
                </a:solidFill>
              </a:defRPr>
            </a:pPr>
            <a:r>
              <a:t>Auswahl für den Analyse-Teil</a:t>
            </a:r>
          </a:p>
          <a:p>
            <a:pPr marL="521368" lvl="1" indent="-140368" defTabSz="12700">
              <a:lnSpc>
                <a:spcPct val="135000"/>
              </a:lnSpc>
              <a:buSzPct val="100000"/>
              <a:buChar char="•"/>
              <a:defRPr sz="1400"/>
            </a:pPr>
            <a:r>
              <a:rPr b="1">
                <a:solidFill>
                  <a:srgbClr val="212B48"/>
                </a:solidFill>
              </a:rPr>
              <a:t>Land:</a:t>
            </a:r>
            <a:r>
              <a:t> Deutschland</a:t>
            </a:r>
          </a:p>
          <a:p>
            <a:pPr marL="521368" lvl="1" indent="-140368" defTabSz="12700">
              <a:lnSpc>
                <a:spcPct val="135000"/>
              </a:lnSpc>
              <a:buSzPct val="100000"/>
              <a:buChar char="•"/>
              <a:defRPr sz="1400" b="1"/>
            </a:pPr>
            <a:r>
              <a:rPr>
                <a:solidFill>
                  <a:srgbClr val="212B48"/>
                </a:solidFill>
              </a:rPr>
              <a:t>Zeitraum:</a:t>
            </a:r>
            <a:r>
              <a:rPr b="0"/>
              <a:t> 2000–2019</a:t>
            </a:r>
          </a:p>
          <a:p>
            <a:pPr marL="521368" lvl="1" indent="-140368" defTabSz="12700">
              <a:lnSpc>
                <a:spcPct val="135000"/>
              </a:lnSpc>
              <a:buSzPct val="100000"/>
              <a:buChar char="•"/>
              <a:defRPr sz="1400" b="1">
                <a:solidFill>
                  <a:srgbClr val="212B48"/>
                </a:solidFill>
              </a:defRPr>
            </a:pPr>
            <a:r>
              <a:t>Indikatoren:</a:t>
            </a:r>
            <a:endParaRPr b="0"/>
          </a:p>
          <a:p>
            <a:pPr marL="902368" lvl="2" indent="-140368" defTabSz="12700">
              <a:lnSpc>
                <a:spcPct val="135000"/>
              </a:lnSpc>
              <a:buSzPct val="100000"/>
              <a:buChar char="•"/>
              <a:defRPr sz="1400"/>
            </a:pPr>
            <a:r>
              <a:t>Hypertonie-Prävalenz</a:t>
            </a:r>
          </a:p>
          <a:p>
            <a:pPr marL="902368" lvl="2" indent="-140368" defTabSz="12700">
              <a:lnSpc>
                <a:spcPct val="135000"/>
              </a:lnSpc>
              <a:buSzPct val="100000"/>
              <a:buChar char="•"/>
              <a:defRPr sz="1400"/>
            </a:pPr>
            <a:r>
              <a:t>Mortalitätsrate durch hypertensive Herzkrankheit</a:t>
            </a:r>
          </a:p>
          <a:p>
            <a:pPr marL="902368" lvl="2" indent="-140368" defTabSz="12700">
              <a:lnSpc>
                <a:spcPct val="135000"/>
              </a:lnSpc>
              <a:buSzPct val="100000"/>
              <a:buChar char="•"/>
              <a:defRPr sz="1400"/>
            </a:pPr>
            <a:r>
              <a:t>geschlechtsspezifische Prävalenzwerte für Männer und Frauen</a:t>
            </a:r>
          </a:p>
          <a:p>
            <a:pPr marL="521368" lvl="1" indent="-140368" defTabSz="12700">
              <a:lnSpc>
                <a:spcPct val="135000"/>
              </a:lnSpc>
              <a:buSzPct val="100000"/>
              <a:buChar char="•"/>
              <a:defRPr sz="1400"/>
            </a:pPr>
            <a:r>
              <a:rPr b="1">
                <a:solidFill>
                  <a:srgbClr val="212B48"/>
                </a:solidFill>
              </a:rPr>
              <a:t>Datenebene:</a:t>
            </a:r>
            <a:r>
              <a:t> aggregierte Länder- und Jahresdaten</a:t>
            </a:r>
          </a:p>
        </p:txBody>
      </p:sp>
      <p:sp>
        <p:nvSpPr>
          <p:cNvPr id="76" name="Foliennummer"/>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rPr dirty="0"/>
              <a:t>Problem und </a:t>
            </a:r>
            <a:r>
              <a:rPr dirty="0" err="1"/>
              <a:t>Ziele</a:t>
            </a:r>
            <a:r>
              <a:rPr dirty="0"/>
              <a:t> (WHO)</a:t>
            </a:r>
          </a:p>
        </p:txBody>
      </p:sp>
      <p:sp>
        <p:nvSpPr>
          <p:cNvPr id="79" name="Shape 12"/>
          <p:cNvSpPr/>
          <p:nvPr/>
        </p:nvSpPr>
        <p:spPr>
          <a:xfrm>
            <a:off x="6327395" y="2674620"/>
            <a:ext cx="4283383" cy="2098358"/>
          </a:xfrm>
          <a:prstGeom prst="roundRect">
            <a:avLst>
              <a:gd name="adj" fmla="val 3025"/>
            </a:avLst>
          </a:prstGeom>
          <a:solidFill>
            <a:srgbClr val="DFF3FA"/>
          </a:solidFill>
          <a:ln w="12700">
            <a:solidFill>
              <a:srgbClr val="DFF3FA">
                <a:alpha val="0"/>
              </a:srgbClr>
            </a:solidFill>
          </a:ln>
        </p:spPr>
        <p:txBody>
          <a:bodyPr lIns="45719" rIns="45719"/>
          <a:lstStyle/>
          <a:p>
            <a:endParaRPr/>
          </a:p>
        </p:txBody>
      </p:sp>
      <p:sp>
        <p:nvSpPr>
          <p:cNvPr id="80" name="Text 13"/>
          <p:cNvSpPr txBox="1"/>
          <p:nvPr/>
        </p:nvSpPr>
        <p:spPr>
          <a:xfrm>
            <a:off x="6764854" y="2878157"/>
            <a:ext cx="3103891" cy="2604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700" b="1">
                <a:solidFill>
                  <a:srgbClr val="212B48"/>
                </a:solidFill>
              </a:defRPr>
            </a:lvl1pPr>
          </a:lstStyle>
          <a:p>
            <a:r>
              <a:t>Ziel der Analyse</a:t>
            </a:r>
          </a:p>
        </p:txBody>
      </p:sp>
      <p:sp>
        <p:nvSpPr>
          <p:cNvPr id="81" name="Text 14"/>
          <p:cNvSpPr txBox="1"/>
          <p:nvPr/>
        </p:nvSpPr>
        <p:spPr>
          <a:xfrm>
            <a:off x="6764854" y="3296411"/>
            <a:ext cx="3662532" cy="1482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40368" indent="-140368">
              <a:buSzPct val="100000"/>
              <a:buChar char="•"/>
              <a:defRPr sz="1500">
                <a:solidFill>
                  <a:srgbClr val="1E2B4A"/>
                </a:solidFill>
              </a:defRPr>
            </a:pPr>
            <a:r>
              <a:t>Entwicklung der Hypertonie-Kennzahlen untersuchen</a:t>
            </a:r>
          </a:p>
          <a:p>
            <a:pPr marL="140368" indent="-140368">
              <a:buSzPct val="100000"/>
              <a:buChar char="•"/>
              <a:defRPr sz="1500">
                <a:solidFill>
                  <a:srgbClr val="1E2B4A"/>
                </a:solidFill>
              </a:defRPr>
            </a:pPr>
            <a:r>
              <a:t>Geschlechtsunterschiede identifizieren</a:t>
            </a:r>
          </a:p>
          <a:p>
            <a:pPr marL="140368" indent="-140368">
              <a:buSzPct val="100000"/>
              <a:buChar char="•"/>
              <a:defRPr sz="1500">
                <a:solidFill>
                  <a:srgbClr val="1E2B4A"/>
                </a:solidFill>
              </a:defRPr>
            </a:pPr>
            <a:r>
              <a:t>Mortalität im Zeitverlauf analysieren</a:t>
            </a:r>
          </a:p>
          <a:p>
            <a:pPr marL="140368" indent="-140368">
              <a:buSzPct val="100000"/>
              <a:buChar char="•"/>
              <a:defRPr sz="1500">
                <a:solidFill>
                  <a:srgbClr val="1E2B4A"/>
                </a:solidFill>
              </a:defRPr>
            </a:pPr>
            <a:r>
              <a:t>Ergebnisse in App visualisieren</a:t>
            </a:r>
          </a:p>
        </p:txBody>
      </p:sp>
      <p:sp>
        <p:nvSpPr>
          <p:cNvPr id="82" name="Slide Number Placeholder 0"/>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83" name="Shape 12"/>
          <p:cNvSpPr/>
          <p:nvPr/>
        </p:nvSpPr>
        <p:spPr>
          <a:xfrm>
            <a:off x="1212740" y="2674620"/>
            <a:ext cx="4283384" cy="2098358"/>
          </a:xfrm>
          <a:prstGeom prst="roundRect">
            <a:avLst>
              <a:gd name="adj" fmla="val 3025"/>
            </a:avLst>
          </a:prstGeom>
          <a:solidFill>
            <a:srgbClr val="E3F2F9"/>
          </a:solidFill>
          <a:ln w="12700">
            <a:solidFill>
              <a:srgbClr val="DFF3FA">
                <a:alpha val="0"/>
              </a:srgbClr>
            </a:solidFill>
          </a:ln>
        </p:spPr>
        <p:txBody>
          <a:bodyPr lIns="45719" rIns="45719"/>
          <a:lstStyle/>
          <a:p>
            <a:endParaRPr/>
          </a:p>
        </p:txBody>
      </p:sp>
      <p:sp>
        <p:nvSpPr>
          <p:cNvPr id="84" name="Text 13"/>
          <p:cNvSpPr txBox="1"/>
          <p:nvPr/>
        </p:nvSpPr>
        <p:spPr>
          <a:xfrm>
            <a:off x="1468772" y="2878157"/>
            <a:ext cx="2897997" cy="2604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700" b="1">
                <a:solidFill>
                  <a:srgbClr val="212B48"/>
                </a:solidFill>
              </a:defRPr>
            </a:lvl1pPr>
          </a:lstStyle>
          <a:p>
            <a:r>
              <a:t>Ausgangspunkt</a:t>
            </a:r>
          </a:p>
        </p:txBody>
      </p:sp>
      <p:sp>
        <p:nvSpPr>
          <p:cNvPr id="85" name="Text 14"/>
          <p:cNvSpPr txBox="1"/>
          <p:nvPr/>
        </p:nvSpPr>
        <p:spPr>
          <a:xfrm>
            <a:off x="1468772" y="3296411"/>
            <a:ext cx="3771320" cy="1482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50394" indent="-150394">
              <a:buSzPct val="100000"/>
              <a:buChar char="•"/>
              <a:defRPr sz="1500">
                <a:solidFill>
                  <a:srgbClr val="1E2B4A"/>
                </a:solidFill>
              </a:defRPr>
            </a:pPr>
            <a:r>
              <a:t>Hypertonie als relevantes Public-Health-Thema</a:t>
            </a:r>
          </a:p>
          <a:p>
            <a:pPr marL="150394" indent="-150394">
              <a:buSzPct val="100000"/>
              <a:buChar char="•"/>
              <a:defRPr sz="1500">
                <a:solidFill>
                  <a:srgbClr val="1E2B4A"/>
                </a:solidFill>
              </a:defRPr>
            </a:pPr>
            <a:r>
              <a:t>Hohe Bedeutung für kardiovaskuläre Erkrankungen</a:t>
            </a:r>
          </a:p>
          <a:p>
            <a:pPr marL="150394" indent="-150394">
              <a:buSzPct val="100000"/>
              <a:buChar char="•"/>
              <a:defRPr sz="1500">
                <a:solidFill>
                  <a:srgbClr val="1E2B4A"/>
                </a:solidFill>
              </a:defRPr>
            </a:pPr>
            <a:r>
              <a:t>Hypertonie bleibt häufig lange unbemerkt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212B48"/>
                </a:solidFill>
              </a:defRPr>
            </a:lvl1pPr>
          </a:lstStyle>
          <a:p>
            <a:r>
              <a:t>Forschungsfragen - WHO-Daten</a:t>
            </a:r>
          </a:p>
        </p:txBody>
      </p:sp>
      <p:sp>
        <p:nvSpPr>
          <p:cNvPr id="90" name="Slide Number Placeholder 0"/>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grpSp>
        <p:nvGrpSpPr>
          <p:cNvPr id="97" name="Gruppieren"/>
          <p:cNvGrpSpPr/>
          <p:nvPr/>
        </p:nvGrpSpPr>
        <p:grpSpPr>
          <a:xfrm>
            <a:off x="851552" y="2522393"/>
            <a:ext cx="10488896" cy="1813214"/>
            <a:chOff x="0" y="0"/>
            <a:chExt cx="10488894" cy="1813212"/>
          </a:xfrm>
        </p:grpSpPr>
        <p:sp>
          <p:nvSpPr>
            <p:cNvPr id="91" name="Shape 12"/>
            <p:cNvSpPr/>
            <p:nvPr/>
          </p:nvSpPr>
          <p:spPr>
            <a:xfrm>
              <a:off x="3548561" y="0"/>
              <a:ext cx="3400916" cy="1813213"/>
            </a:xfrm>
            <a:prstGeom prst="roundRect">
              <a:avLst>
                <a:gd name="adj" fmla="val 3025"/>
              </a:avLst>
            </a:prstGeom>
            <a:solidFill>
              <a:srgbClr val="DFF3FA"/>
            </a:solidFill>
            <a:ln w="12700" cap="flat">
              <a:solidFill>
                <a:srgbClr val="DFF3FA">
                  <a:alpha val="0"/>
                </a:srgbClr>
              </a:solidFill>
              <a:prstDash val="solid"/>
              <a:round/>
            </a:ln>
            <a:effectLst/>
          </p:spPr>
          <p:txBody>
            <a:bodyPr wrap="square" lIns="45719" tIns="45719" rIns="45719" bIns="45719" numCol="1" anchor="t">
              <a:noAutofit/>
            </a:bodyPr>
            <a:lstStyle/>
            <a:p>
              <a:endParaRPr/>
            </a:p>
          </p:txBody>
        </p:sp>
        <p:sp>
          <p:nvSpPr>
            <p:cNvPr id="92" name="Shape 15"/>
            <p:cNvSpPr/>
            <p:nvPr/>
          </p:nvSpPr>
          <p:spPr>
            <a:xfrm>
              <a:off x="7087978" y="0"/>
              <a:ext cx="3400917" cy="1813213"/>
            </a:xfrm>
            <a:prstGeom prst="roundRect">
              <a:avLst>
                <a:gd name="adj" fmla="val 3025"/>
              </a:avLst>
            </a:prstGeom>
            <a:solidFill>
              <a:srgbClr val="E3F2F9"/>
            </a:solidFill>
            <a:ln w="12700" cap="flat">
              <a:solidFill>
                <a:srgbClr val="FCE6F0">
                  <a:alpha val="0"/>
                </a:srgbClr>
              </a:solidFill>
              <a:prstDash val="solid"/>
              <a:round/>
            </a:ln>
            <a:effectLst/>
          </p:spPr>
          <p:txBody>
            <a:bodyPr wrap="square" lIns="45719" tIns="45719" rIns="45719" bIns="45719" numCol="1" anchor="t">
              <a:noAutofit/>
            </a:bodyPr>
            <a:lstStyle/>
            <a:p>
              <a:endParaRPr/>
            </a:p>
          </p:txBody>
        </p:sp>
        <p:sp>
          <p:nvSpPr>
            <p:cNvPr id="93" name="Shape 12"/>
            <p:cNvSpPr/>
            <p:nvPr/>
          </p:nvSpPr>
          <p:spPr>
            <a:xfrm>
              <a:off x="0" y="0"/>
              <a:ext cx="3410060" cy="1813213"/>
            </a:xfrm>
            <a:prstGeom prst="roundRect">
              <a:avLst>
                <a:gd name="adj" fmla="val 3025"/>
              </a:avLst>
            </a:prstGeom>
            <a:solidFill>
              <a:srgbClr val="E3F2F9"/>
            </a:solidFill>
            <a:ln w="12700" cap="flat">
              <a:solidFill>
                <a:srgbClr val="DFF3FA">
                  <a:alpha val="0"/>
                </a:srgbClr>
              </a:solidFill>
              <a:prstDash val="solid"/>
              <a:round/>
            </a:ln>
            <a:effectLst/>
          </p:spPr>
          <p:txBody>
            <a:bodyPr wrap="square" lIns="45719" tIns="45719" rIns="45719" bIns="45719" numCol="1" anchor="t">
              <a:noAutofit/>
            </a:bodyPr>
            <a:lstStyle/>
            <a:p>
              <a:endParaRPr/>
            </a:p>
          </p:txBody>
        </p:sp>
        <p:sp>
          <p:nvSpPr>
            <p:cNvPr id="94" name="1. Prävalenz…"/>
            <p:cNvSpPr txBox="1"/>
            <p:nvPr/>
          </p:nvSpPr>
          <p:spPr>
            <a:xfrm>
              <a:off x="51383" y="223603"/>
              <a:ext cx="3307293" cy="14952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lvl="1" indent="228600">
                <a:defRPr sz="1600" b="1">
                  <a:solidFill>
                    <a:srgbClr val="212B48"/>
                  </a:solidFill>
                </a:defRPr>
              </a:pPr>
              <a:r>
                <a:t>1. Prävalenz</a:t>
              </a:r>
            </a:p>
            <a:p>
              <a:pPr>
                <a:defRPr sz="1600" b="1">
                  <a:solidFill>
                    <a:srgbClr val="212B48"/>
                  </a:solidFill>
                </a:defRPr>
              </a:pPr>
              <a:endParaRPr/>
            </a:p>
            <a:p>
              <a:pPr lvl="1" indent="228600">
                <a:defRPr sz="1600">
                  <a:solidFill>
                    <a:srgbClr val="212B48"/>
                  </a:solidFill>
                </a:defRPr>
              </a:pPr>
              <a:r>
                <a:t>Wie hat sich die Hypertonie-Prävalenz in Deutschland von 2000 bis 2019 entwickelt?</a:t>
              </a:r>
            </a:p>
          </p:txBody>
        </p:sp>
        <p:sp>
          <p:nvSpPr>
            <p:cNvPr id="95" name="2. Mortalität…"/>
            <p:cNvSpPr txBox="1"/>
            <p:nvPr/>
          </p:nvSpPr>
          <p:spPr>
            <a:xfrm>
              <a:off x="3542211" y="223603"/>
              <a:ext cx="3355883" cy="12541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lvl="1" indent="228600">
                <a:defRPr sz="1600" b="1">
                  <a:solidFill>
                    <a:srgbClr val="212B48"/>
                  </a:solidFill>
                </a:defRPr>
              </a:pPr>
              <a:r>
                <a:t>2. Mortalität</a:t>
              </a:r>
            </a:p>
            <a:p>
              <a:pPr>
                <a:defRPr sz="1600" b="1">
                  <a:solidFill>
                    <a:srgbClr val="212B48"/>
                  </a:solidFill>
                </a:defRPr>
              </a:pPr>
              <a:endParaRPr/>
            </a:p>
            <a:p>
              <a:pPr lvl="1" indent="228600">
                <a:defRPr sz="1600">
                  <a:solidFill>
                    <a:srgbClr val="212B48"/>
                  </a:solidFill>
                </a:defRPr>
              </a:pPr>
              <a:r>
                <a:t>Wie hat sich die Mortalität durch hypertensive Herzkrankheit im Zeitraum 2000-2019 verändert?</a:t>
              </a:r>
            </a:p>
          </p:txBody>
        </p:sp>
        <p:sp>
          <p:nvSpPr>
            <p:cNvPr id="96" name="3. Geschlecht…"/>
            <p:cNvSpPr txBox="1"/>
            <p:nvPr/>
          </p:nvSpPr>
          <p:spPr>
            <a:xfrm>
              <a:off x="7139362" y="279531"/>
              <a:ext cx="3298150" cy="12541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lvl="1" indent="228600">
                <a:defRPr sz="1600" b="1">
                  <a:solidFill>
                    <a:srgbClr val="212B48"/>
                  </a:solidFill>
                </a:defRPr>
              </a:pPr>
              <a:r>
                <a:t>3. Geschlecht</a:t>
              </a:r>
            </a:p>
            <a:p>
              <a:pPr>
                <a:defRPr sz="1600" b="1">
                  <a:solidFill>
                    <a:srgbClr val="212B48"/>
                  </a:solidFill>
                </a:defRPr>
              </a:pPr>
              <a:endParaRPr/>
            </a:p>
            <a:p>
              <a:pPr lvl="1" indent="228600">
                <a:defRPr sz="1600">
                  <a:solidFill>
                    <a:srgbClr val="212B48"/>
                  </a:solidFill>
                </a:defRPr>
              </a:pPr>
              <a:r>
                <a:t>Welche Unterschiede zeigen sich zwischen Männern und Frauen?</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212B48"/>
                </a:solidFill>
              </a:defRPr>
            </a:lvl1pPr>
          </a:lstStyle>
          <a:p>
            <a:r>
              <a:t>Workflow - WHO-Daten</a:t>
            </a:r>
          </a:p>
        </p:txBody>
      </p:sp>
      <p:sp>
        <p:nvSpPr>
          <p:cNvPr id="102" name="Slide Number Placeholder 0"/>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103" name="Shape 1"/>
          <p:cNvSpPr/>
          <p:nvPr/>
        </p:nvSpPr>
        <p:spPr>
          <a:xfrm>
            <a:off x="950975" y="1355502"/>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04" name="Text 2"/>
          <p:cNvSpPr txBox="1"/>
          <p:nvPr/>
        </p:nvSpPr>
        <p:spPr>
          <a:xfrm>
            <a:off x="950975" y="1480978"/>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1</a:t>
            </a:r>
          </a:p>
        </p:txBody>
      </p:sp>
      <p:sp>
        <p:nvSpPr>
          <p:cNvPr id="105" name="Text 3"/>
          <p:cNvSpPr txBox="1"/>
          <p:nvPr/>
        </p:nvSpPr>
        <p:spPr>
          <a:xfrm>
            <a:off x="2029967" y="1352962"/>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Datenquelle auswählen</a:t>
            </a:r>
          </a:p>
        </p:txBody>
      </p:sp>
      <p:sp>
        <p:nvSpPr>
          <p:cNvPr id="106" name="Text 4"/>
          <p:cNvSpPr txBox="1"/>
          <p:nvPr/>
        </p:nvSpPr>
        <p:spPr>
          <a:xfrm>
            <a:off x="2029967" y="1711102"/>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WHO-Indikatoren: Hypertonie-Prävalenz, Mortalität und Geschlecht</a:t>
            </a:r>
          </a:p>
        </p:txBody>
      </p:sp>
      <p:sp>
        <p:nvSpPr>
          <p:cNvPr id="107" name="Shape 5"/>
          <p:cNvSpPr/>
          <p:nvPr/>
        </p:nvSpPr>
        <p:spPr>
          <a:xfrm>
            <a:off x="950975" y="2196750"/>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08" name="Text 6"/>
          <p:cNvSpPr txBox="1"/>
          <p:nvPr/>
        </p:nvSpPr>
        <p:spPr>
          <a:xfrm>
            <a:off x="950975" y="2322226"/>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2</a:t>
            </a:r>
          </a:p>
        </p:txBody>
      </p:sp>
      <p:sp>
        <p:nvSpPr>
          <p:cNvPr id="109" name="Text 7"/>
          <p:cNvSpPr txBox="1"/>
          <p:nvPr/>
        </p:nvSpPr>
        <p:spPr>
          <a:xfrm>
            <a:off x="2029967" y="2194210"/>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Daten bereinigen</a:t>
            </a:r>
          </a:p>
        </p:txBody>
      </p:sp>
      <p:sp>
        <p:nvSpPr>
          <p:cNvPr id="110" name="Text 8"/>
          <p:cNvSpPr txBox="1"/>
          <p:nvPr/>
        </p:nvSpPr>
        <p:spPr>
          <a:xfrm>
            <a:off x="2029967" y="2552350"/>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Deutschland, Zeitraum 2000–2019, relevante Spalten und einheitliche Struktur</a:t>
            </a:r>
          </a:p>
        </p:txBody>
      </p:sp>
      <p:sp>
        <p:nvSpPr>
          <p:cNvPr id="111" name="Shape 9"/>
          <p:cNvSpPr/>
          <p:nvPr/>
        </p:nvSpPr>
        <p:spPr>
          <a:xfrm>
            <a:off x="950975" y="3037998"/>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12" name="Text 10"/>
          <p:cNvSpPr txBox="1"/>
          <p:nvPr/>
        </p:nvSpPr>
        <p:spPr>
          <a:xfrm>
            <a:off x="950975" y="3163474"/>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3</a:t>
            </a:r>
          </a:p>
        </p:txBody>
      </p:sp>
      <p:sp>
        <p:nvSpPr>
          <p:cNvPr id="113" name="Text 11"/>
          <p:cNvSpPr txBox="1"/>
          <p:nvPr/>
        </p:nvSpPr>
        <p:spPr>
          <a:xfrm>
            <a:off x="2029967" y="3035458"/>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Daten zusammenführen</a:t>
            </a:r>
          </a:p>
        </p:txBody>
      </p:sp>
      <p:sp>
        <p:nvSpPr>
          <p:cNvPr id="114" name="Text 12"/>
          <p:cNvSpPr txBox="1"/>
          <p:nvPr/>
        </p:nvSpPr>
        <p:spPr>
          <a:xfrm>
            <a:off x="2029967" y="3393598"/>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Finale Analyse-Tabelle mit Prävalenz, Geschlecht und Mortalitätsrate</a:t>
            </a:r>
          </a:p>
        </p:txBody>
      </p:sp>
      <p:sp>
        <p:nvSpPr>
          <p:cNvPr id="115" name="Shape 13"/>
          <p:cNvSpPr/>
          <p:nvPr/>
        </p:nvSpPr>
        <p:spPr>
          <a:xfrm>
            <a:off x="950975" y="3879246"/>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16" name="Text 14"/>
          <p:cNvSpPr txBox="1"/>
          <p:nvPr/>
        </p:nvSpPr>
        <p:spPr>
          <a:xfrm>
            <a:off x="950975" y="4004722"/>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4</a:t>
            </a:r>
          </a:p>
        </p:txBody>
      </p:sp>
      <p:sp>
        <p:nvSpPr>
          <p:cNvPr id="117" name="Text 15"/>
          <p:cNvSpPr txBox="1"/>
          <p:nvPr/>
        </p:nvSpPr>
        <p:spPr>
          <a:xfrm>
            <a:off x="2029967" y="3876706"/>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Explorative Analyse</a:t>
            </a:r>
          </a:p>
        </p:txBody>
      </p:sp>
      <p:sp>
        <p:nvSpPr>
          <p:cNvPr id="118" name="Text 16"/>
          <p:cNvSpPr txBox="1"/>
          <p:nvPr/>
        </p:nvSpPr>
        <p:spPr>
          <a:xfrm>
            <a:off x="2029967" y="4234846"/>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Zeitliche Trends und Geschlechterunterschiede untersuchen</a:t>
            </a:r>
          </a:p>
        </p:txBody>
      </p:sp>
      <p:sp>
        <p:nvSpPr>
          <p:cNvPr id="119" name="Shape 17"/>
          <p:cNvSpPr/>
          <p:nvPr/>
        </p:nvSpPr>
        <p:spPr>
          <a:xfrm>
            <a:off x="950975" y="4720494"/>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20" name="Text 18"/>
          <p:cNvSpPr txBox="1"/>
          <p:nvPr/>
        </p:nvSpPr>
        <p:spPr>
          <a:xfrm>
            <a:off x="950975" y="4857654"/>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5</a:t>
            </a:r>
          </a:p>
        </p:txBody>
      </p:sp>
      <p:sp>
        <p:nvSpPr>
          <p:cNvPr id="121" name="Text 19"/>
          <p:cNvSpPr txBox="1"/>
          <p:nvPr/>
        </p:nvSpPr>
        <p:spPr>
          <a:xfrm>
            <a:off x="2029967" y="4717954"/>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Visualisierung</a:t>
            </a:r>
          </a:p>
        </p:txBody>
      </p:sp>
      <p:sp>
        <p:nvSpPr>
          <p:cNvPr id="122" name="Text 20"/>
          <p:cNvSpPr txBox="1"/>
          <p:nvPr/>
        </p:nvSpPr>
        <p:spPr>
          <a:xfrm>
            <a:off x="2029967" y="5076094"/>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Passende Visualisierungen zu den Forschungsfragen in der App</a:t>
            </a:r>
          </a:p>
        </p:txBody>
      </p:sp>
      <p:sp>
        <p:nvSpPr>
          <p:cNvPr id="123" name="Shape 13"/>
          <p:cNvSpPr/>
          <p:nvPr/>
        </p:nvSpPr>
        <p:spPr>
          <a:xfrm>
            <a:off x="950975" y="5535834"/>
            <a:ext cx="749809" cy="530353"/>
          </a:xfrm>
          <a:prstGeom prst="roundRect">
            <a:avLst>
              <a:gd name="adj" fmla="val 12069"/>
            </a:avLst>
          </a:prstGeom>
          <a:solidFill>
            <a:srgbClr val="E3F2F9"/>
          </a:solidFill>
          <a:ln w="12700">
            <a:solidFill>
              <a:srgbClr val="DDECF3">
                <a:alpha val="85000"/>
              </a:srgbClr>
            </a:solidFill>
          </a:ln>
        </p:spPr>
        <p:txBody>
          <a:bodyPr lIns="45719" rIns="45719"/>
          <a:lstStyle/>
          <a:p>
            <a:pPr>
              <a:defRPr>
                <a:latin typeface="Aptos"/>
                <a:ea typeface="Aptos"/>
                <a:cs typeface="Aptos"/>
                <a:sym typeface="Aptos"/>
              </a:defRPr>
            </a:pPr>
            <a:endParaRPr/>
          </a:p>
        </p:txBody>
      </p:sp>
      <p:sp>
        <p:nvSpPr>
          <p:cNvPr id="124" name="Text 14"/>
          <p:cNvSpPr txBox="1"/>
          <p:nvPr/>
        </p:nvSpPr>
        <p:spPr>
          <a:xfrm>
            <a:off x="950975" y="5661310"/>
            <a:ext cx="74980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solidFill>
                  <a:srgbClr val="212B48"/>
                </a:solidFill>
                <a:latin typeface="Aptos Display"/>
                <a:ea typeface="Aptos Display"/>
                <a:cs typeface="Aptos Display"/>
                <a:sym typeface="Aptos Display"/>
              </a:defRPr>
            </a:lvl1pPr>
          </a:lstStyle>
          <a:p>
            <a:r>
              <a:t>6</a:t>
            </a:r>
          </a:p>
        </p:txBody>
      </p:sp>
      <p:sp>
        <p:nvSpPr>
          <p:cNvPr id="125" name="Text 15"/>
          <p:cNvSpPr txBox="1"/>
          <p:nvPr/>
        </p:nvSpPr>
        <p:spPr>
          <a:xfrm>
            <a:off x="2029967" y="5533294"/>
            <a:ext cx="63093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212B48"/>
                </a:solidFill>
                <a:latin typeface="Aptos Display"/>
                <a:ea typeface="Aptos Display"/>
                <a:cs typeface="Aptos Display"/>
                <a:sym typeface="Aptos Display"/>
              </a:defRPr>
            </a:lvl1pPr>
          </a:lstStyle>
          <a:p>
            <a:r>
              <a:t>Ergebnisse interpretieren</a:t>
            </a:r>
          </a:p>
        </p:txBody>
      </p:sp>
      <p:sp>
        <p:nvSpPr>
          <p:cNvPr id="126" name="Text 16"/>
          <p:cNvSpPr txBox="1"/>
          <p:nvPr/>
        </p:nvSpPr>
        <p:spPr>
          <a:xfrm>
            <a:off x="2029967" y="5891434"/>
            <a:ext cx="722376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53667A"/>
                </a:solidFill>
                <a:latin typeface="Aptos"/>
                <a:ea typeface="Aptos"/>
                <a:cs typeface="Aptos"/>
                <a:sym typeface="Aptos"/>
              </a:defRPr>
            </a:lvl1pPr>
          </a:lstStyle>
          <a:p>
            <a:r>
              <a:t>Trends einordnen, Geschlechterunterschiede bewerten, Aussagekraft der Daten einordnen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 1"/>
          <p:cNvSpPr txBox="1"/>
          <p:nvPr/>
        </p:nvSpPr>
        <p:spPr>
          <a:xfrm>
            <a:off x="658368" y="575436"/>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212B48"/>
                </a:solidFill>
              </a:defRPr>
            </a:lvl1pPr>
          </a:lstStyle>
          <a:p>
            <a:r>
              <a:t>Datenaufbereitung &amp; Analyse</a:t>
            </a:r>
          </a:p>
        </p:txBody>
      </p:sp>
      <p:sp>
        <p:nvSpPr>
          <p:cNvPr id="131" name="Text 1"/>
          <p:cNvSpPr txBox="1"/>
          <p:nvPr/>
        </p:nvSpPr>
        <p:spPr>
          <a:xfrm>
            <a:off x="705718" y="1234439"/>
            <a:ext cx="7643269" cy="2714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500">
                <a:solidFill>
                  <a:srgbClr val="5F7085"/>
                </a:solidFill>
                <a:latin typeface="Aptos"/>
                <a:ea typeface="Aptos"/>
                <a:cs typeface="Aptos"/>
                <a:sym typeface="Aptos"/>
              </a:defRPr>
            </a:lvl1pPr>
          </a:lstStyle>
          <a:p>
            <a:r>
              <a:t>Von den Forschungsfragen zu konkreten Auswertungsschritten</a:t>
            </a:r>
          </a:p>
        </p:txBody>
      </p:sp>
      <p:sp>
        <p:nvSpPr>
          <p:cNvPr id="132" name="Text 2"/>
          <p:cNvSpPr txBox="1"/>
          <p:nvPr/>
        </p:nvSpPr>
        <p:spPr>
          <a:xfrm>
            <a:off x="1204503" y="2073137"/>
            <a:ext cx="1370148"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Analyseschritt</a:t>
            </a:r>
          </a:p>
        </p:txBody>
      </p:sp>
      <p:sp>
        <p:nvSpPr>
          <p:cNvPr id="133" name="Text 3"/>
          <p:cNvSpPr txBox="1"/>
          <p:nvPr/>
        </p:nvSpPr>
        <p:spPr>
          <a:xfrm>
            <a:off x="6535592" y="2073137"/>
            <a:ext cx="1173814"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Auswertung</a:t>
            </a:r>
          </a:p>
        </p:txBody>
      </p:sp>
      <p:sp>
        <p:nvSpPr>
          <p:cNvPr id="134" name="Text 4"/>
          <p:cNvSpPr txBox="1"/>
          <p:nvPr/>
        </p:nvSpPr>
        <p:spPr>
          <a:xfrm>
            <a:off x="8939890" y="2073137"/>
            <a:ext cx="2666258"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Ziel der Analyse</a:t>
            </a:r>
          </a:p>
        </p:txBody>
      </p:sp>
      <p:graphicFrame>
        <p:nvGraphicFramePr>
          <p:cNvPr id="135" name="Tabelle 1"/>
          <p:cNvGraphicFramePr/>
          <p:nvPr/>
        </p:nvGraphicFramePr>
        <p:xfrm>
          <a:off x="992871" y="2483390"/>
          <a:ext cx="10422640" cy="1891218"/>
        </p:xfrm>
        <a:graphic>
          <a:graphicData uri="http://schemas.openxmlformats.org/drawingml/2006/table">
            <a:tbl>
              <a:tblPr bandRow="1">
                <a:tableStyleId>{CF821DB8-F4EB-4A41-A1BA-3FCAFE7338EE}</a:tableStyleId>
              </a:tblPr>
              <a:tblGrid>
                <a:gridCol w="2084528">
                  <a:extLst>
                    <a:ext uri="{9D8B030D-6E8A-4147-A177-3AD203B41FA5}">
                      <a16:colId xmlns:a16="http://schemas.microsoft.com/office/drawing/2014/main" val="20000"/>
                    </a:ext>
                  </a:extLst>
                </a:gridCol>
                <a:gridCol w="2084528">
                  <a:extLst>
                    <a:ext uri="{9D8B030D-6E8A-4147-A177-3AD203B41FA5}">
                      <a16:colId xmlns:a16="http://schemas.microsoft.com/office/drawing/2014/main" val="20001"/>
                    </a:ext>
                  </a:extLst>
                </a:gridCol>
                <a:gridCol w="2084528">
                  <a:extLst>
                    <a:ext uri="{9D8B030D-6E8A-4147-A177-3AD203B41FA5}">
                      <a16:colId xmlns:a16="http://schemas.microsoft.com/office/drawing/2014/main" val="20002"/>
                    </a:ext>
                  </a:extLst>
                </a:gridCol>
                <a:gridCol w="2084528">
                  <a:extLst>
                    <a:ext uri="{9D8B030D-6E8A-4147-A177-3AD203B41FA5}">
                      <a16:colId xmlns:a16="http://schemas.microsoft.com/office/drawing/2014/main" val="20003"/>
                    </a:ext>
                  </a:extLst>
                </a:gridCol>
                <a:gridCol w="2084528">
                  <a:extLst>
                    <a:ext uri="{9D8B030D-6E8A-4147-A177-3AD203B41FA5}">
                      <a16:colId xmlns:a16="http://schemas.microsoft.com/office/drawing/2014/main" val="20004"/>
                    </a:ext>
                  </a:extLst>
                </a:gridCol>
              </a:tblGrid>
              <a:tr h="630406">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extLst>
                  <a:ext uri="{0D108BD9-81ED-4DB2-BD59-A6C34878D82A}">
                    <a16:rowId xmlns:a16="http://schemas.microsoft.com/office/drawing/2014/main" val="10000"/>
                  </a:ext>
                </a:extLst>
              </a:tr>
              <a:tr h="630406">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extLst>
                  <a:ext uri="{0D108BD9-81ED-4DB2-BD59-A6C34878D82A}">
                    <a16:rowId xmlns:a16="http://schemas.microsoft.com/office/drawing/2014/main" val="10001"/>
                  </a:ext>
                </a:extLst>
              </a:tr>
              <a:tr h="630406">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extLst>
                  <a:ext uri="{0D108BD9-81ED-4DB2-BD59-A6C34878D82A}">
                    <a16:rowId xmlns:a16="http://schemas.microsoft.com/office/drawing/2014/main" val="10002"/>
                  </a:ext>
                </a:extLst>
              </a:tr>
            </a:tbl>
          </a:graphicData>
        </a:graphic>
      </p:graphicFrame>
      <p:sp>
        <p:nvSpPr>
          <p:cNvPr id="136" name="Text 7"/>
          <p:cNvSpPr txBox="1"/>
          <p:nvPr/>
        </p:nvSpPr>
        <p:spPr>
          <a:xfrm>
            <a:off x="1032732" y="2612674"/>
            <a:ext cx="1173814"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1 Prävalenz</a:t>
            </a:r>
          </a:p>
        </p:txBody>
      </p:sp>
      <p:sp>
        <p:nvSpPr>
          <p:cNvPr id="137" name="Text 9"/>
          <p:cNvSpPr txBox="1"/>
          <p:nvPr/>
        </p:nvSpPr>
        <p:spPr>
          <a:xfrm>
            <a:off x="6521770" y="2561494"/>
            <a:ext cx="2399632"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b="1">
                <a:solidFill>
                  <a:srgbClr val="2F7BBE"/>
                </a:solidFill>
              </a:defRPr>
            </a:lvl1pPr>
          </a:lstStyle>
          <a:p>
            <a:r>
              <a:t>Zeitreihenanalyse</a:t>
            </a:r>
          </a:p>
        </p:txBody>
      </p:sp>
      <p:sp>
        <p:nvSpPr>
          <p:cNvPr id="138" name="Text 10"/>
          <p:cNvSpPr txBox="1"/>
          <p:nvPr/>
        </p:nvSpPr>
        <p:spPr>
          <a:xfrm>
            <a:off x="8922614" y="2561494"/>
            <a:ext cx="2399632" cy="4783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Trend der Hypertonie-Prävalenz 2000–2019</a:t>
            </a:r>
          </a:p>
        </p:txBody>
      </p:sp>
      <p:sp>
        <p:nvSpPr>
          <p:cNvPr id="139" name="Text 15"/>
          <p:cNvSpPr txBox="1"/>
          <p:nvPr/>
        </p:nvSpPr>
        <p:spPr>
          <a:xfrm>
            <a:off x="6513647" y="3203823"/>
            <a:ext cx="2399632" cy="3316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b="1">
                <a:solidFill>
                  <a:srgbClr val="2F7BBE"/>
                </a:solidFill>
              </a:defRPr>
            </a:lvl1pPr>
          </a:lstStyle>
          <a:p>
            <a:r>
              <a:t>Zeitreihenanalyse</a:t>
            </a:r>
          </a:p>
        </p:txBody>
      </p:sp>
      <p:sp>
        <p:nvSpPr>
          <p:cNvPr id="140" name="Text 16"/>
          <p:cNvSpPr txBox="1"/>
          <p:nvPr/>
        </p:nvSpPr>
        <p:spPr>
          <a:xfrm>
            <a:off x="8927190" y="3203823"/>
            <a:ext cx="2390478" cy="4503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Veränderung der Mortalitätsrate 2000–2019</a:t>
            </a:r>
          </a:p>
        </p:txBody>
      </p:sp>
      <p:sp>
        <p:nvSpPr>
          <p:cNvPr id="141" name="Text 21"/>
          <p:cNvSpPr txBox="1"/>
          <p:nvPr/>
        </p:nvSpPr>
        <p:spPr>
          <a:xfrm>
            <a:off x="6524428" y="3828825"/>
            <a:ext cx="2399632" cy="3275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b="1">
                <a:solidFill>
                  <a:srgbClr val="2F7BBE"/>
                </a:solidFill>
              </a:defRPr>
            </a:lvl1pPr>
          </a:lstStyle>
          <a:p>
            <a:r>
              <a:t>Vergleich Männer/Frauen</a:t>
            </a:r>
          </a:p>
        </p:txBody>
      </p:sp>
      <p:sp>
        <p:nvSpPr>
          <p:cNvPr id="142" name="Text 22"/>
          <p:cNvSpPr txBox="1"/>
          <p:nvPr/>
        </p:nvSpPr>
        <p:spPr>
          <a:xfrm>
            <a:off x="8925273" y="3828825"/>
            <a:ext cx="2695492" cy="45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Unterschiede in der Hypertonie-Prävalenz einordnen</a:t>
            </a:r>
          </a:p>
        </p:txBody>
      </p:sp>
      <p:sp>
        <p:nvSpPr>
          <p:cNvPr id="143" name="Text 2"/>
          <p:cNvSpPr txBox="1"/>
          <p:nvPr/>
        </p:nvSpPr>
        <p:spPr>
          <a:xfrm>
            <a:off x="2699567" y="2073137"/>
            <a:ext cx="1663201"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Datenaufbereitung</a:t>
            </a:r>
          </a:p>
        </p:txBody>
      </p:sp>
      <p:sp>
        <p:nvSpPr>
          <p:cNvPr id="144" name="Text 7"/>
          <p:cNvSpPr txBox="1"/>
          <p:nvPr/>
        </p:nvSpPr>
        <p:spPr>
          <a:xfrm>
            <a:off x="1032732" y="3262674"/>
            <a:ext cx="1173814"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2 Mortalität</a:t>
            </a:r>
          </a:p>
        </p:txBody>
      </p:sp>
      <p:sp>
        <p:nvSpPr>
          <p:cNvPr id="145" name="Text 7"/>
          <p:cNvSpPr txBox="1"/>
          <p:nvPr/>
        </p:nvSpPr>
        <p:spPr>
          <a:xfrm>
            <a:off x="1098772" y="3887676"/>
            <a:ext cx="1173814"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3 Geschlecht</a:t>
            </a:r>
          </a:p>
        </p:txBody>
      </p:sp>
      <p:sp>
        <p:nvSpPr>
          <p:cNvPr id="146" name="Text 10"/>
          <p:cNvSpPr txBox="1"/>
          <p:nvPr/>
        </p:nvSpPr>
        <p:spPr>
          <a:xfrm>
            <a:off x="2696192" y="2539224"/>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Deutschland, Zeitraum 2000-2019 und relevante WHO-Indikatoren gefiltert</a:t>
            </a:r>
          </a:p>
        </p:txBody>
      </p:sp>
      <p:sp>
        <p:nvSpPr>
          <p:cNvPr id="147" name="Text 10"/>
          <p:cNvSpPr txBox="1"/>
          <p:nvPr/>
        </p:nvSpPr>
        <p:spPr>
          <a:xfrm>
            <a:off x="2696192" y="3163823"/>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Mortalitätsdaten bereinigt, Jahreswerte geprüft und mit Prävalenzdaten kombiniert</a:t>
            </a:r>
          </a:p>
        </p:txBody>
      </p:sp>
      <p:sp>
        <p:nvSpPr>
          <p:cNvPr id="148" name="Text 10"/>
          <p:cNvSpPr txBox="1"/>
          <p:nvPr/>
        </p:nvSpPr>
        <p:spPr>
          <a:xfrm>
            <a:off x="2696192" y="3788825"/>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Männer- und Frauendaten standardisiert und in die finale Analyse-Tabelle integriert</a:t>
            </a:r>
          </a:p>
        </p:txBody>
      </p:sp>
      <p:sp>
        <p:nvSpPr>
          <p:cNvPr id="149" name="Slide Number Placeholder 0"/>
          <p:cNvSpPr txBox="1">
            <a:spLocks noGrp="1"/>
          </p:cNvSpPr>
          <p:nvPr>
            <p:ph type="sldNum" sz="quarter" idx="4294967295"/>
          </p:nvPr>
        </p:nvSpPr>
        <p:spPr>
          <a:xfrm>
            <a:off x="11567159" y="6479260"/>
            <a:ext cx="153570" cy="19055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defTabSz="859536">
              <a:defRPr sz="2538" b="1">
                <a:solidFill>
                  <a:srgbClr val="212B48"/>
                </a:solidFill>
              </a:defRPr>
            </a:lvl1pPr>
          </a:lstStyle>
          <a:p>
            <a:r>
              <a:t>WHO-Analyse: Hypertonie-Kennzahlen im Zeitverlauf</a:t>
            </a:r>
          </a:p>
        </p:txBody>
      </p:sp>
      <p:pic>
        <p:nvPicPr>
          <p:cNvPr id="154" name="who-tableau-dashboard.png" descr="who-tableau-dashboard.png"/>
          <p:cNvPicPr>
            <a:picLocks noChangeAspect="1"/>
          </p:cNvPicPr>
          <p:nvPr/>
        </p:nvPicPr>
        <p:blipFill>
          <a:blip r:embed="rId2"/>
          <a:srcRect t="16198" b="8969"/>
          <a:stretch>
            <a:fillRect/>
          </a:stretch>
        </p:blipFill>
        <p:spPr>
          <a:xfrm>
            <a:off x="2023095" y="1684857"/>
            <a:ext cx="8145844" cy="4546043"/>
          </a:xfrm>
          <a:prstGeom prst="rect">
            <a:avLst/>
          </a:prstGeom>
          <a:ln w="12700">
            <a:miter lim="400000"/>
          </a:ln>
        </p:spPr>
      </p:pic>
      <p:sp>
        <p:nvSpPr>
          <p:cNvPr id="155" name="Deutschland, 2000–2019 | Prävalenz, Mortalität und Geschlechterunterschiede"/>
          <p:cNvSpPr txBox="1"/>
          <p:nvPr/>
        </p:nvSpPr>
        <p:spPr>
          <a:xfrm>
            <a:off x="2614770" y="1335548"/>
            <a:ext cx="9059825" cy="483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lvl1pPr defTabSz="457200">
              <a:defRPr sz="1400" b="1">
                <a:solidFill>
                  <a:srgbClr val="212B48"/>
                </a:solidFill>
              </a:defRPr>
            </a:lvl1pPr>
          </a:lstStyle>
          <a:p>
            <a:r>
              <a:t>Deutschland, 2000–2019 | Prävalenz, Mortalität und Geschlechterunterschiede</a:t>
            </a:r>
            <a:endParaRPr b="0"/>
          </a:p>
        </p:txBody>
      </p:sp>
      <p:sp>
        <p:nvSpPr>
          <p:cNvPr id="156" name="Foliennummer"/>
          <p:cNvSpPr txBox="1">
            <a:spLocks noGrp="1"/>
          </p:cNvSpPr>
          <p:nvPr>
            <p:ph type="sldNum" sz="quarter" idx="4294967295"/>
          </p:nvPr>
        </p:nvSpPr>
        <p:spPr>
          <a:xfrm>
            <a:off x="11567159" y="6473952"/>
            <a:ext cx="153570"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Fazit</a:t>
            </a:r>
          </a:p>
        </p:txBody>
      </p:sp>
      <p:sp>
        <p:nvSpPr>
          <p:cNvPr id="159" name="Shape 2"/>
          <p:cNvSpPr/>
          <p:nvPr/>
        </p:nvSpPr>
        <p:spPr>
          <a:xfrm>
            <a:off x="777240" y="1325880"/>
            <a:ext cx="4983480" cy="4069080"/>
          </a:xfrm>
          <a:prstGeom prst="roundRect">
            <a:avLst>
              <a:gd name="adj" fmla="val 1798"/>
            </a:avLst>
          </a:prstGeom>
          <a:solidFill>
            <a:srgbClr val="DFF3FA"/>
          </a:solidFill>
          <a:ln w="12700">
            <a:solidFill>
              <a:srgbClr val="DFF3FA">
                <a:alpha val="0"/>
              </a:srgbClr>
            </a:solidFill>
          </a:ln>
        </p:spPr>
        <p:txBody>
          <a:bodyPr lIns="45719" rIns="45719"/>
          <a:lstStyle/>
          <a:p>
            <a:endParaRPr/>
          </a:p>
        </p:txBody>
      </p:sp>
      <p:sp>
        <p:nvSpPr>
          <p:cNvPr id="160" name="Text 3"/>
          <p:cNvSpPr txBox="1"/>
          <p:nvPr/>
        </p:nvSpPr>
        <p:spPr>
          <a:xfrm>
            <a:off x="1078991" y="1637945"/>
            <a:ext cx="2103122" cy="2354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1E2B4A"/>
                </a:solidFill>
              </a:defRPr>
            </a:lvl1pPr>
          </a:lstStyle>
          <a:p>
            <a:r>
              <a:t>Kernaussagen</a:t>
            </a:r>
          </a:p>
        </p:txBody>
      </p:sp>
      <p:sp>
        <p:nvSpPr>
          <p:cNvPr id="161" name="Text 4"/>
          <p:cNvSpPr txBox="1"/>
          <p:nvPr/>
        </p:nvSpPr>
        <p:spPr>
          <a:xfrm>
            <a:off x="1078991" y="2057400"/>
            <a:ext cx="4297681" cy="30106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Die Hypertonie-Prävalenz in Deutschland ist im Zeitraum 2000–2019 insgesamt zurückgegangen.</a:t>
            </a:r>
          </a:p>
          <a:p>
            <a:pPr marL="120315" indent="-120315"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endParaRPr/>
          </a:p>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Männer zeigen über den gesamten Zeitraum höhere Prävalenzwerte als Frauen.</a:t>
            </a:r>
          </a:p>
          <a:p>
            <a:pPr marL="120315" indent="-120315"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endParaRPr/>
          </a:p>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Die Mortalitätsrate durch hypertensive Herzkrankheit zeigt keinen vergleichbaren Rückgang und bleibt ein relevanter Indikator.</a:t>
            </a:r>
          </a:p>
        </p:txBody>
      </p:sp>
      <p:sp>
        <p:nvSpPr>
          <p:cNvPr id="162" name="Shape 5"/>
          <p:cNvSpPr/>
          <p:nvPr/>
        </p:nvSpPr>
        <p:spPr>
          <a:xfrm>
            <a:off x="6263640" y="1325880"/>
            <a:ext cx="4988560" cy="4069080"/>
          </a:xfrm>
          <a:prstGeom prst="roundRect">
            <a:avLst>
              <a:gd name="adj" fmla="val 1798"/>
            </a:avLst>
          </a:prstGeom>
          <a:solidFill>
            <a:srgbClr val="FFFFFF"/>
          </a:solidFill>
          <a:ln w="7620">
            <a:solidFill>
              <a:srgbClr val="DDE7F0"/>
            </a:solidFill>
          </a:ln>
        </p:spPr>
        <p:txBody>
          <a:bodyPr lIns="45719" rIns="45719"/>
          <a:lstStyle/>
          <a:p>
            <a:endParaRPr/>
          </a:p>
        </p:txBody>
      </p:sp>
      <p:sp>
        <p:nvSpPr>
          <p:cNvPr id="163" name="Text 6"/>
          <p:cNvSpPr txBox="1"/>
          <p:nvPr/>
        </p:nvSpPr>
        <p:spPr>
          <a:xfrm>
            <a:off x="6556247" y="1637945"/>
            <a:ext cx="3906640" cy="2354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1E2B4A"/>
                </a:solidFill>
              </a:defRPr>
            </a:lvl1pPr>
          </a:lstStyle>
          <a:p>
            <a:r>
              <a:t>Grenzen &amp; Übergang zur ML-Analyse</a:t>
            </a:r>
          </a:p>
        </p:txBody>
      </p:sp>
      <p:sp>
        <p:nvSpPr>
          <p:cNvPr id="164" name="Text 7"/>
          <p:cNvSpPr txBox="1"/>
          <p:nvPr/>
        </p:nvSpPr>
        <p:spPr>
          <a:xfrm>
            <a:off x="6556247" y="2057400"/>
            <a:ext cx="4297681" cy="30106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Die Analyse basiert auf aggregierten WHO-Daten für Deutschland.</a:t>
            </a:r>
          </a:p>
          <a:p>
            <a:pPr marL="120315" indent="-120315"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endParaRPr/>
          </a:p>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Regionale, altersbezogene und sozioökonomische Unterschiede wurden nicht berücksichtigt.</a:t>
            </a:r>
          </a:p>
          <a:p>
            <a:pPr marL="120315" indent="-120315"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endParaRPr/>
          </a:p>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Die Ergebnisse zeigen beschreibende Trends, aber keine kausalen Zusammenhänge.</a:t>
            </a:r>
          </a:p>
          <a:p>
            <a:pPr marL="120315" indent="-120315"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endParaRPr/>
          </a:p>
          <a:p>
            <a:pPr marL="130342" indent="-130342"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n-lt"/>
                <a:ea typeface="+mn-ea"/>
                <a:cs typeface="+mn-cs"/>
                <a:sym typeface="Helvetica"/>
              </a:defRPr>
            </a:pPr>
            <a:r>
              <a:t>Nächster Schritt: Analyse individueller Risikofaktoren mit NHANES-Daten.</a:t>
            </a:r>
          </a:p>
        </p:txBody>
      </p:sp>
      <p:sp>
        <p:nvSpPr>
          <p:cNvPr id="165" name="Slide Number Placeholder 0"/>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2"/>
          <p:cNvSpPr/>
          <p:nvPr/>
        </p:nvSpPr>
        <p:spPr>
          <a:xfrm>
            <a:off x="0" y="0"/>
            <a:ext cx="321549" cy="6858000"/>
          </a:xfrm>
          <a:prstGeom prst="rect">
            <a:avLst/>
          </a:prstGeom>
          <a:solidFill>
            <a:srgbClr val="0F6B8C"/>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a:p>
        </p:txBody>
      </p:sp>
      <p:sp>
        <p:nvSpPr>
          <p:cNvPr id="170" name="Rectangle 19"/>
          <p:cNvSpPr/>
          <p:nvPr/>
        </p:nvSpPr>
        <p:spPr>
          <a:xfrm>
            <a:off x="768095" y="3227501"/>
            <a:ext cx="4480561" cy="32005"/>
          </a:xfrm>
          <a:prstGeom prst="rect">
            <a:avLst/>
          </a:prstGeom>
          <a:solidFill>
            <a:srgbClr val="158BB8"/>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a:p>
        </p:txBody>
      </p:sp>
      <p:grpSp>
        <p:nvGrpSpPr>
          <p:cNvPr id="185" name="Gruppieren"/>
          <p:cNvGrpSpPr/>
          <p:nvPr/>
        </p:nvGrpSpPr>
        <p:grpSpPr>
          <a:xfrm>
            <a:off x="8005063" y="910276"/>
            <a:ext cx="2737151" cy="5037448"/>
            <a:chOff x="0" y="0"/>
            <a:chExt cx="2737150" cy="5037446"/>
          </a:xfrm>
        </p:grpSpPr>
        <p:sp>
          <p:nvSpPr>
            <p:cNvPr id="171" name="Oval 4"/>
            <p:cNvSpPr/>
            <p:nvPr/>
          </p:nvSpPr>
          <p:spPr>
            <a:xfrm>
              <a:off x="0" y="511165"/>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2" name="Oval 5"/>
            <p:cNvSpPr/>
            <p:nvPr/>
          </p:nvSpPr>
          <p:spPr>
            <a:xfrm>
              <a:off x="281986" y="0"/>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3" name="Oval 6"/>
            <p:cNvSpPr/>
            <p:nvPr/>
          </p:nvSpPr>
          <p:spPr>
            <a:xfrm>
              <a:off x="666034" y="693054"/>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4" name="Oval 7"/>
            <p:cNvSpPr/>
            <p:nvPr/>
          </p:nvSpPr>
          <p:spPr>
            <a:xfrm>
              <a:off x="1008934" y="19112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5" name="Oval 8"/>
            <p:cNvSpPr/>
            <p:nvPr/>
          </p:nvSpPr>
          <p:spPr>
            <a:xfrm>
              <a:off x="1511853" y="511165"/>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6" name="Oval 9"/>
            <p:cNvSpPr/>
            <p:nvPr/>
          </p:nvSpPr>
          <p:spPr>
            <a:xfrm>
              <a:off x="2014774" y="83120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7" name="Oval 10"/>
            <p:cNvSpPr/>
            <p:nvPr/>
          </p:nvSpPr>
          <p:spPr>
            <a:xfrm>
              <a:off x="2517694" y="191126"/>
              <a:ext cx="100585" cy="100585"/>
            </a:xfrm>
            <a:prstGeom prst="ellipse">
              <a:avLst/>
            </a:prstGeom>
            <a:solidFill>
              <a:srgbClr val="D7EAF3"/>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8" name="Rectangle 11"/>
            <p:cNvSpPr/>
            <p:nvPr/>
          </p:nvSpPr>
          <p:spPr>
            <a:xfrm>
              <a:off x="231694" y="4123046"/>
              <a:ext cx="201169" cy="9144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79" name="Rectangle 12"/>
            <p:cNvSpPr/>
            <p:nvPr/>
          </p:nvSpPr>
          <p:spPr>
            <a:xfrm>
              <a:off x="615742" y="3574406"/>
              <a:ext cx="201169" cy="14630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80" name="Rectangle 13"/>
            <p:cNvSpPr/>
            <p:nvPr/>
          </p:nvSpPr>
          <p:spPr>
            <a:xfrm>
              <a:off x="999790" y="3894446"/>
              <a:ext cx="201169" cy="114300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81" name="Rectangle 14"/>
            <p:cNvSpPr/>
            <p:nvPr/>
          </p:nvSpPr>
          <p:spPr>
            <a:xfrm>
              <a:off x="1383838" y="3117206"/>
              <a:ext cx="201169" cy="192024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82" name="Rectangle 15"/>
            <p:cNvSpPr/>
            <p:nvPr/>
          </p:nvSpPr>
          <p:spPr>
            <a:xfrm>
              <a:off x="1767886" y="3620126"/>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83" name="Rectangle 16"/>
            <p:cNvSpPr/>
            <p:nvPr/>
          </p:nvSpPr>
          <p:spPr>
            <a:xfrm>
              <a:off x="2151934" y="2797166"/>
              <a:ext cx="201169" cy="224028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sp>
          <p:nvSpPr>
            <p:cNvPr id="184" name="Rectangle 15"/>
            <p:cNvSpPr/>
            <p:nvPr/>
          </p:nvSpPr>
          <p:spPr>
            <a:xfrm>
              <a:off x="2535982" y="3620126"/>
              <a:ext cx="201169" cy="1417321"/>
            </a:xfrm>
            <a:prstGeom prst="rect">
              <a:avLst/>
            </a:prstGeom>
            <a:solidFill>
              <a:srgbClr val="DCEFF6"/>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algn="ctr" defTabSz="457200">
                <a:defRPr>
                  <a:solidFill>
                    <a:srgbClr val="FFFFFF"/>
                  </a:solidFill>
                  <a:latin typeface="Calibri"/>
                  <a:ea typeface="Calibri"/>
                  <a:cs typeface="Calibri"/>
                  <a:sym typeface="Calibri"/>
                </a:defRPr>
              </a:pPr>
              <a:endParaRPr/>
            </a:p>
          </p:txBody>
        </p:sp>
      </p:grpSp>
      <p:sp>
        <p:nvSpPr>
          <p:cNvPr id="186" name="Text 5"/>
          <p:cNvSpPr txBox="1"/>
          <p:nvPr/>
        </p:nvSpPr>
        <p:spPr>
          <a:xfrm>
            <a:off x="713231" y="1078991"/>
            <a:ext cx="6217922" cy="1234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pPr defTabSz="859536">
              <a:defRPr sz="4041" b="1">
                <a:solidFill>
                  <a:srgbClr val="212B48"/>
                </a:solidFill>
              </a:defRPr>
            </a:pPr>
            <a:r>
              <a:t>Machine Learning </a:t>
            </a:r>
          </a:p>
          <a:p>
            <a:pPr defTabSz="859536">
              <a:defRPr sz="4041" b="1">
                <a:solidFill>
                  <a:srgbClr val="212B48"/>
                </a:solidFill>
              </a:defRPr>
            </a:pPr>
            <a:r>
              <a:t>mit NHANES-Daten</a:t>
            </a:r>
          </a:p>
        </p:txBody>
      </p:sp>
      <p:sp>
        <p:nvSpPr>
          <p:cNvPr id="187" name="Text 6"/>
          <p:cNvSpPr txBox="1"/>
          <p:nvPr/>
        </p:nvSpPr>
        <p:spPr>
          <a:xfrm>
            <a:off x="749807" y="2556408"/>
            <a:ext cx="6967063" cy="27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a:solidFill>
                  <a:srgbClr val="212B48"/>
                </a:solidFill>
              </a:defRPr>
            </a:lvl1pPr>
          </a:lstStyle>
          <a:p>
            <a:r>
              <a:t>Vorhersage von Hypertonie anhand individueller Risikofaktoren</a:t>
            </a:r>
          </a:p>
        </p:txBody>
      </p:sp>
      <p:sp>
        <p:nvSpPr>
          <p:cNvPr id="188" name="Text 8"/>
          <p:cNvSpPr txBox="1"/>
          <p:nvPr/>
        </p:nvSpPr>
        <p:spPr>
          <a:xfrm>
            <a:off x="768095" y="3657600"/>
            <a:ext cx="6948775" cy="5952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defTabSz="905255">
              <a:defRPr sz="1782">
                <a:solidFill>
                  <a:srgbClr val="212B48"/>
                </a:solidFill>
              </a:defRPr>
            </a:lvl1pPr>
          </a:lstStyle>
          <a:p>
            <a:r>
              <a:rPr lang="de-DE" dirty="0"/>
              <a:t>Demografische, körperbezogene und lebensstilbezogene Merkmale im Modell</a:t>
            </a:r>
            <a:endParaRPr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ext 1"/>
          <p:cNvSpPr txBox="1"/>
          <p:nvPr/>
        </p:nvSpPr>
        <p:spPr>
          <a:xfrm>
            <a:off x="658368" y="583665"/>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212B48"/>
                </a:solidFill>
              </a:defRPr>
            </a:lvl1pPr>
          </a:lstStyle>
          <a:p>
            <a:r>
              <a:t>Forschungsfragen - NHANES-Daten</a:t>
            </a:r>
          </a:p>
        </p:txBody>
      </p:sp>
      <p:sp>
        <p:nvSpPr>
          <p:cNvPr id="204" name="Shape 12"/>
          <p:cNvSpPr/>
          <p:nvPr/>
        </p:nvSpPr>
        <p:spPr>
          <a:xfrm>
            <a:off x="6777554" y="2522393"/>
            <a:ext cx="3534163" cy="1813214"/>
          </a:xfrm>
          <a:prstGeom prst="roundRect">
            <a:avLst>
              <a:gd name="adj" fmla="val 3025"/>
            </a:avLst>
          </a:prstGeom>
          <a:solidFill>
            <a:srgbClr val="DFF3FA"/>
          </a:solidFill>
          <a:ln w="12700">
            <a:solidFill>
              <a:srgbClr val="DFF3FA">
                <a:alpha val="0"/>
              </a:srgbClr>
            </a:solidFill>
          </a:ln>
        </p:spPr>
        <p:txBody>
          <a:bodyPr lIns="45719" rIns="45719"/>
          <a:lstStyle/>
          <a:p>
            <a:endParaRPr/>
          </a:p>
        </p:txBody>
      </p:sp>
      <p:sp>
        <p:nvSpPr>
          <p:cNvPr id="205" name="Shape 12"/>
          <p:cNvSpPr/>
          <p:nvPr/>
        </p:nvSpPr>
        <p:spPr>
          <a:xfrm>
            <a:off x="1776112" y="2522393"/>
            <a:ext cx="3534163" cy="1813214"/>
          </a:xfrm>
          <a:prstGeom prst="roundRect">
            <a:avLst>
              <a:gd name="adj" fmla="val 3025"/>
            </a:avLst>
          </a:prstGeom>
          <a:solidFill>
            <a:srgbClr val="E3F2F9"/>
          </a:solidFill>
          <a:ln w="12700">
            <a:solidFill>
              <a:srgbClr val="DFF3FA">
                <a:alpha val="0"/>
              </a:srgbClr>
            </a:solidFill>
          </a:ln>
        </p:spPr>
        <p:txBody>
          <a:bodyPr lIns="45719" rIns="45719"/>
          <a:lstStyle/>
          <a:p>
            <a:endParaRPr/>
          </a:p>
        </p:txBody>
      </p:sp>
      <p:sp>
        <p:nvSpPr>
          <p:cNvPr id="206" name="1. Vorhersage…"/>
          <p:cNvSpPr txBox="1"/>
          <p:nvPr/>
        </p:nvSpPr>
        <p:spPr>
          <a:xfrm>
            <a:off x="1827496" y="2685036"/>
            <a:ext cx="3307293" cy="1585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lvl="1" indent="228600">
              <a:defRPr sz="1700" b="1">
                <a:solidFill>
                  <a:srgbClr val="212B48"/>
                </a:solidFill>
              </a:defRPr>
            </a:pPr>
            <a:r>
              <a:rPr dirty="0"/>
              <a:t>1. </a:t>
            </a:r>
            <a:r>
              <a:rPr dirty="0" err="1"/>
              <a:t>Vorhersage</a:t>
            </a:r>
            <a:endParaRPr lang="de-DE" dirty="0"/>
          </a:p>
          <a:p>
            <a:pPr indent="228600">
              <a:defRPr sz="1600">
                <a:solidFill>
                  <a:srgbClr val="212B48"/>
                </a:solidFill>
              </a:defRPr>
            </a:pPr>
            <a:endParaRPr lang="de-DE" dirty="0"/>
          </a:p>
          <a:p>
            <a:pPr indent="228600">
              <a:defRPr sz="1600">
                <a:solidFill>
                  <a:srgbClr val="212B48"/>
                </a:solidFill>
              </a:defRPr>
            </a:pPr>
            <a:r>
              <a:rPr lang="de-DE" dirty="0"/>
              <a:t>Kann ein Machine-Learning-Modell auf Basis individueller NHANES-Daten vorhersagen, ob eine Person Hypertonie hat?</a:t>
            </a:r>
          </a:p>
        </p:txBody>
      </p:sp>
      <p:sp>
        <p:nvSpPr>
          <p:cNvPr id="207" name="2. Risikofaktoren…"/>
          <p:cNvSpPr txBox="1"/>
          <p:nvPr/>
        </p:nvSpPr>
        <p:spPr>
          <a:xfrm>
            <a:off x="6796604" y="2685036"/>
            <a:ext cx="3355883" cy="1279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lvl="1" indent="228600">
              <a:defRPr sz="1700" b="1">
                <a:solidFill>
                  <a:srgbClr val="212B48"/>
                </a:solidFill>
              </a:defRPr>
            </a:pPr>
            <a:r>
              <a:t>2. Risikofaktoren</a:t>
            </a:r>
          </a:p>
          <a:p>
            <a:pPr>
              <a:defRPr sz="1600" b="1">
                <a:solidFill>
                  <a:srgbClr val="212B48"/>
                </a:solidFill>
              </a:defRPr>
            </a:pPr>
            <a:endParaRPr/>
          </a:p>
          <a:p>
            <a:pPr lvl="1" indent="228600">
              <a:defRPr sz="1600">
                <a:solidFill>
                  <a:srgbClr val="212B48"/>
                </a:solidFill>
              </a:defRPr>
            </a:pPr>
            <a:r>
              <a:t>Welche Merkmale tragen im Modell am stärksten zur Hypertonie-Vorhersage bei?</a:t>
            </a:r>
          </a:p>
        </p:txBody>
      </p:sp>
      <p:sp>
        <p:nvSpPr>
          <p:cNvPr id="208" name="Foliennumme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Problem und Ziele (NHANES)</a:t>
            </a:r>
          </a:p>
        </p:txBody>
      </p:sp>
      <p:sp>
        <p:nvSpPr>
          <p:cNvPr id="195" name="Shape 12"/>
          <p:cNvSpPr/>
          <p:nvPr/>
        </p:nvSpPr>
        <p:spPr>
          <a:xfrm>
            <a:off x="6327395" y="2671445"/>
            <a:ext cx="4283383" cy="2098358"/>
          </a:xfrm>
          <a:prstGeom prst="roundRect">
            <a:avLst>
              <a:gd name="adj" fmla="val 3025"/>
            </a:avLst>
          </a:prstGeom>
          <a:solidFill>
            <a:srgbClr val="DFF3FA"/>
          </a:solidFill>
          <a:ln w="12700">
            <a:solidFill>
              <a:srgbClr val="DFF3FA">
                <a:alpha val="0"/>
              </a:srgbClr>
            </a:solidFill>
          </a:ln>
        </p:spPr>
        <p:txBody>
          <a:bodyPr lIns="45719" rIns="45719"/>
          <a:lstStyle/>
          <a:p>
            <a:endParaRPr/>
          </a:p>
        </p:txBody>
      </p:sp>
      <p:sp>
        <p:nvSpPr>
          <p:cNvPr id="196" name="Text 13"/>
          <p:cNvSpPr txBox="1"/>
          <p:nvPr/>
        </p:nvSpPr>
        <p:spPr>
          <a:xfrm>
            <a:off x="6764854" y="2874982"/>
            <a:ext cx="3103891" cy="2604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700" b="1">
                <a:solidFill>
                  <a:srgbClr val="212B48"/>
                </a:solidFill>
              </a:defRPr>
            </a:lvl1pPr>
          </a:lstStyle>
          <a:p>
            <a:r>
              <a:t>Ziel der Analyse</a:t>
            </a:r>
          </a:p>
        </p:txBody>
      </p:sp>
      <p:sp>
        <p:nvSpPr>
          <p:cNvPr id="197" name="Text 14"/>
          <p:cNvSpPr txBox="1"/>
          <p:nvPr/>
        </p:nvSpPr>
        <p:spPr>
          <a:xfrm>
            <a:off x="6764854" y="3293236"/>
            <a:ext cx="3662532" cy="1482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40368" indent="-140368">
              <a:buSzPct val="100000"/>
              <a:buChar char="•"/>
              <a:defRPr sz="1500">
                <a:solidFill>
                  <a:srgbClr val="15213A"/>
                </a:solidFill>
              </a:defRPr>
            </a:pPr>
            <a:r>
              <a:rPr lang="de-DE" sz="1500" dirty="0"/>
              <a:t>Hypertonie-Status datenbasiert einschätzen</a:t>
            </a:r>
          </a:p>
          <a:p>
            <a:pPr marL="140368" indent="-140368">
              <a:buSzPct val="100000"/>
              <a:buChar char="•"/>
              <a:defRPr sz="1500">
                <a:solidFill>
                  <a:srgbClr val="15213A"/>
                </a:solidFill>
              </a:defRPr>
            </a:pPr>
            <a:r>
              <a:rPr lang="de-DE" sz="1500" dirty="0"/>
              <a:t>Relevante Gesundheitsmerkmale untersuchen</a:t>
            </a:r>
          </a:p>
          <a:p>
            <a:pPr marL="140368" indent="-140368">
              <a:buSzPct val="100000"/>
              <a:buChar char="•"/>
              <a:defRPr sz="1500">
                <a:solidFill>
                  <a:srgbClr val="15213A"/>
                </a:solidFill>
              </a:defRPr>
            </a:pPr>
            <a:r>
              <a:rPr lang="de-DE" sz="1500" dirty="0"/>
              <a:t>Wichtige Features für die Risikoeinschätzung identifizieren</a:t>
            </a:r>
            <a:endParaRPr dirty="0"/>
          </a:p>
        </p:txBody>
      </p:sp>
      <p:sp>
        <p:nvSpPr>
          <p:cNvPr id="198" name="Shape 12"/>
          <p:cNvSpPr/>
          <p:nvPr/>
        </p:nvSpPr>
        <p:spPr>
          <a:xfrm>
            <a:off x="1212740" y="2671445"/>
            <a:ext cx="4283384" cy="2098358"/>
          </a:xfrm>
          <a:prstGeom prst="roundRect">
            <a:avLst>
              <a:gd name="adj" fmla="val 3025"/>
            </a:avLst>
          </a:prstGeom>
          <a:solidFill>
            <a:srgbClr val="E3F2F9"/>
          </a:solidFill>
          <a:ln w="12700">
            <a:solidFill>
              <a:srgbClr val="DFF3FA">
                <a:alpha val="0"/>
              </a:srgbClr>
            </a:solidFill>
          </a:ln>
        </p:spPr>
        <p:txBody>
          <a:bodyPr lIns="45719" rIns="45719"/>
          <a:lstStyle/>
          <a:p>
            <a:endParaRPr/>
          </a:p>
        </p:txBody>
      </p:sp>
      <p:sp>
        <p:nvSpPr>
          <p:cNvPr id="199" name="Text 13"/>
          <p:cNvSpPr txBox="1"/>
          <p:nvPr/>
        </p:nvSpPr>
        <p:spPr>
          <a:xfrm>
            <a:off x="1468772" y="2874982"/>
            <a:ext cx="2897997" cy="2604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700" b="1">
                <a:solidFill>
                  <a:srgbClr val="212B48"/>
                </a:solidFill>
              </a:defRPr>
            </a:lvl1pPr>
          </a:lstStyle>
          <a:p>
            <a:r>
              <a:t>Ausgangspunkt</a:t>
            </a:r>
          </a:p>
        </p:txBody>
      </p:sp>
      <p:sp>
        <p:nvSpPr>
          <p:cNvPr id="200" name="Text 14"/>
          <p:cNvSpPr txBox="1"/>
          <p:nvPr/>
        </p:nvSpPr>
        <p:spPr>
          <a:xfrm>
            <a:off x="1468772" y="3293236"/>
            <a:ext cx="3771320" cy="1482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35" tIns="635" rIns="635" bIns="635">
            <a:normAutofit/>
          </a:bodyPr>
          <a:lstStyle/>
          <a:p>
            <a:pPr marL="140368" indent="-140368">
              <a:buSzPct val="100000"/>
              <a:buChar char="•"/>
              <a:defRPr sz="1500">
                <a:solidFill>
                  <a:srgbClr val="15213A"/>
                </a:solidFill>
              </a:defRPr>
            </a:pPr>
            <a:r>
              <a:rPr lang="de-DE" sz="1500" dirty="0"/>
              <a:t>Individuelle Risikofaktoren unterscheiden sich von Person zu Person</a:t>
            </a:r>
          </a:p>
          <a:p>
            <a:pPr marL="140368" indent="-140368">
              <a:buSzPct val="100000"/>
              <a:buChar char="•"/>
              <a:defRPr sz="1500">
                <a:solidFill>
                  <a:srgbClr val="15213A"/>
                </a:solidFill>
              </a:defRPr>
            </a:pPr>
            <a:r>
              <a:rPr lang="de-DE" sz="1500" dirty="0"/>
              <a:t>NHANES kombiniert Befragung, Untersuchung und Messwerte auf Personenebene</a:t>
            </a:r>
            <a:endParaRPr dirty="0"/>
          </a:p>
        </p:txBody>
      </p:sp>
      <p:sp>
        <p:nvSpPr>
          <p:cNvPr id="201" name="Foliennumme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Datenquelle &amp; Datensatz – NHANES</a:t>
            </a:r>
          </a:p>
        </p:txBody>
      </p:sp>
      <p:sp>
        <p:nvSpPr>
          <p:cNvPr id="191" name="Datenquelle: National Health and Nutrition Examination Survey…"/>
          <p:cNvSpPr txBox="1"/>
          <p:nvPr/>
        </p:nvSpPr>
        <p:spPr>
          <a:xfrm>
            <a:off x="690005" y="1653602"/>
            <a:ext cx="9570543" cy="42154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b="1">
                <a:solidFill>
                  <a:srgbClr val="212B48"/>
                </a:solidFill>
              </a:defRPr>
            </a:pPr>
            <a:r>
              <a:rPr dirty="0" err="1"/>
              <a:t>Datenquelle</a:t>
            </a:r>
            <a:r>
              <a:rPr dirty="0"/>
              <a:t>: National Health and Nutrition Examination Survey</a:t>
            </a:r>
          </a:p>
          <a:p>
            <a:pPr marL="521368" lvl="1" indent="-140368" defTabSz="12700">
              <a:lnSpc>
                <a:spcPct val="135000"/>
              </a:lnSpc>
              <a:buSzPct val="100000"/>
              <a:buChar char="•"/>
              <a:defRPr sz="1400"/>
            </a:pPr>
            <a:r>
              <a:rPr dirty="0"/>
              <a:t>US-</a:t>
            </a:r>
            <a:r>
              <a:rPr dirty="0" err="1"/>
              <a:t>amerikanische</a:t>
            </a:r>
            <a:r>
              <a:rPr dirty="0"/>
              <a:t> </a:t>
            </a:r>
            <a:r>
              <a:rPr dirty="0" err="1"/>
              <a:t>Gesundheitsstudie</a:t>
            </a:r>
            <a:endParaRPr dirty="0"/>
          </a:p>
          <a:p>
            <a:pPr marL="521368" lvl="1" indent="-140368" defTabSz="12700">
              <a:lnSpc>
                <a:spcPct val="135000"/>
              </a:lnSpc>
              <a:buSzPct val="100000"/>
              <a:buChar char="•"/>
              <a:defRPr sz="1400"/>
            </a:pPr>
            <a:r>
              <a:rPr dirty="0" err="1"/>
              <a:t>enthält</a:t>
            </a:r>
            <a:r>
              <a:rPr dirty="0"/>
              <a:t> </a:t>
            </a:r>
            <a:r>
              <a:rPr dirty="0" err="1"/>
              <a:t>Interviewdaten</a:t>
            </a:r>
            <a:r>
              <a:rPr dirty="0"/>
              <a:t>, </a:t>
            </a:r>
            <a:r>
              <a:rPr dirty="0" err="1"/>
              <a:t>Untersuchungsdaten</a:t>
            </a:r>
            <a:r>
              <a:rPr dirty="0"/>
              <a:t> und </a:t>
            </a:r>
            <a:r>
              <a:rPr dirty="0" err="1"/>
              <a:t>körperbezogene</a:t>
            </a:r>
            <a:r>
              <a:rPr dirty="0"/>
              <a:t> </a:t>
            </a:r>
            <a:r>
              <a:rPr dirty="0" err="1"/>
              <a:t>Messwerte</a:t>
            </a:r>
            <a:r>
              <a:rPr dirty="0"/>
              <a:t> von </a:t>
            </a:r>
            <a:r>
              <a:rPr dirty="0" err="1"/>
              <a:t>Teilnehmenden</a:t>
            </a:r>
            <a:endParaRPr dirty="0"/>
          </a:p>
          <a:p>
            <a:pPr marL="521368" lvl="1" indent="-140368" defTabSz="12700">
              <a:lnSpc>
                <a:spcPct val="135000"/>
              </a:lnSpc>
              <a:buSzPct val="100000"/>
              <a:buChar char="•"/>
              <a:defRPr sz="1400"/>
            </a:pPr>
            <a:r>
              <a:rPr dirty="0" err="1"/>
              <a:t>geeignet</a:t>
            </a:r>
            <a:r>
              <a:rPr dirty="0"/>
              <a:t> für </a:t>
            </a:r>
            <a:r>
              <a:rPr dirty="0" err="1"/>
              <a:t>Analysen</a:t>
            </a:r>
            <a:r>
              <a:rPr dirty="0"/>
              <a:t> auf </a:t>
            </a:r>
            <a:r>
              <a:rPr dirty="0" err="1"/>
              <a:t>Personenebene</a:t>
            </a:r>
            <a:r>
              <a:rPr dirty="0"/>
              <a:t> und Machine-Learning-Modelle</a:t>
            </a:r>
          </a:p>
          <a:p>
            <a:pPr defTabSz="12700">
              <a:lnSpc>
                <a:spcPct val="135000"/>
              </a:lnSpc>
              <a:defRPr sz="1400"/>
            </a:pPr>
            <a:endParaRPr dirty="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b="1">
                <a:solidFill>
                  <a:srgbClr val="212B48"/>
                </a:solidFill>
              </a:defRPr>
            </a:pPr>
            <a:r>
              <a:rPr lang="de-DE" dirty="0"/>
              <a:t>Welche Daten wurden verwendet? </a:t>
            </a:r>
          </a:p>
          <a:p>
            <a:pPr marL="521368" lvl="1" indent="-140368" defTabSz="12700">
              <a:lnSpc>
                <a:spcPct val="135000"/>
              </a:lnSpc>
              <a:buSzPct val="100000"/>
              <a:buChar char="•"/>
              <a:defRPr sz="1400" b="1"/>
            </a:pPr>
            <a:r>
              <a:rPr lang="de-DE" dirty="0">
                <a:solidFill>
                  <a:srgbClr val="212B48"/>
                </a:solidFill>
              </a:rPr>
              <a:t>Zeitraum: </a:t>
            </a:r>
            <a:r>
              <a:rPr lang="de-DE" b="0" dirty="0"/>
              <a:t>NHANES-Zyklus August 2021–August 2023</a:t>
            </a:r>
          </a:p>
          <a:p>
            <a:pPr marL="521368" lvl="1" indent="-140368" defTabSz="12700">
              <a:lnSpc>
                <a:spcPct val="135000"/>
              </a:lnSpc>
              <a:buSzPct val="100000"/>
              <a:buChar char="•"/>
              <a:defRPr sz="1400" b="1">
                <a:solidFill>
                  <a:srgbClr val="212B48"/>
                </a:solidFill>
              </a:defRPr>
            </a:pPr>
            <a:r>
              <a:rPr lang="de-DE" sz="1400" b="1" dirty="0">
                <a:solidFill>
                  <a:srgbClr val="212B48"/>
                </a:solidFill>
              </a:rPr>
              <a:t>Daten:</a:t>
            </a:r>
          </a:p>
          <a:p>
            <a:pPr marL="902368" lvl="2" indent="-140368" defTabSz="12700">
              <a:lnSpc>
                <a:spcPct val="135000"/>
              </a:lnSpc>
              <a:buSzPct val="100000"/>
              <a:buChar char="•"/>
              <a:defRPr sz="1400"/>
            </a:pPr>
            <a:r>
              <a:rPr lang="de-DE" dirty="0"/>
              <a:t>demografische Angaben, z. B. Alter und Geschlecht</a:t>
            </a:r>
          </a:p>
          <a:p>
            <a:pPr marL="902368" lvl="2" indent="-140368" defTabSz="12700">
              <a:lnSpc>
                <a:spcPct val="135000"/>
              </a:lnSpc>
              <a:buSzPct val="100000"/>
              <a:buChar char="•"/>
              <a:defRPr sz="1400"/>
            </a:pPr>
            <a:r>
              <a:rPr lang="de-DE" dirty="0"/>
              <a:t>körperliche Messwerte, z. B. Größe, Gewicht, BMI und Taillenumfang</a:t>
            </a:r>
          </a:p>
          <a:p>
            <a:pPr marL="902368" lvl="2" indent="-140368" defTabSz="12700">
              <a:lnSpc>
                <a:spcPct val="135000"/>
              </a:lnSpc>
              <a:buSzPct val="100000"/>
              <a:buChar char="•"/>
              <a:defRPr sz="1400"/>
            </a:pPr>
            <a:r>
              <a:rPr lang="de-DE" dirty="0"/>
              <a:t>Informationen zum Hypertonie-Status</a:t>
            </a:r>
          </a:p>
          <a:p>
            <a:pPr marL="902368" lvl="2" indent="-140368" defTabSz="12700">
              <a:lnSpc>
                <a:spcPct val="135000"/>
              </a:lnSpc>
              <a:buSzPct val="100000"/>
              <a:buChar char="•"/>
              <a:defRPr sz="1400"/>
            </a:pPr>
            <a:r>
              <a:rPr lang="de-DE" dirty="0"/>
              <a:t>Gesundheitsmerkmale: Vorerkrankungen </a:t>
            </a:r>
          </a:p>
          <a:p>
            <a:pPr marL="902368" lvl="2" indent="-140368" defTabSz="12700">
              <a:lnSpc>
                <a:spcPct val="135000"/>
              </a:lnSpc>
              <a:buSzPct val="100000"/>
              <a:buChar char="•"/>
              <a:defRPr sz="1400"/>
            </a:pPr>
            <a:r>
              <a:rPr lang="de-DE" dirty="0"/>
              <a:t>Lebensstilfaktoren: Rauchen, Alkoholkonsum, körperliche Aktivität, </a:t>
            </a:r>
            <a:r>
              <a:rPr lang="de-DE" dirty="0" err="1"/>
              <a:t>Sitzzeit</a:t>
            </a:r>
            <a:endParaRPr lang="de-DE" dirty="0"/>
          </a:p>
          <a:p>
            <a:pPr marL="521368" lvl="1" indent="-140368" defTabSz="12700">
              <a:lnSpc>
                <a:spcPct val="135000"/>
              </a:lnSpc>
              <a:buSzPct val="100000"/>
              <a:buChar char="•"/>
              <a:defRPr sz="1400"/>
            </a:pPr>
            <a:r>
              <a:rPr lang="de-DE" b="1" dirty="0">
                <a:solidFill>
                  <a:srgbClr val="212B48"/>
                </a:solidFill>
              </a:rPr>
              <a:t>Datenebene:</a:t>
            </a:r>
            <a:r>
              <a:rPr lang="de-DE" dirty="0"/>
              <a:t> individuelle </a:t>
            </a:r>
            <a:r>
              <a:rPr lang="de-DE" dirty="0" err="1"/>
              <a:t>Teilnehmendendaten</a:t>
            </a:r>
            <a:r>
              <a:rPr lang="de-DE" dirty="0"/>
              <a:t>, keine aggregierten Ländertrends</a:t>
            </a:r>
          </a:p>
        </p:txBody>
      </p:sp>
      <p:sp>
        <p:nvSpPr>
          <p:cNvPr id="192" name="Foliennumme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ADBC7-5D43-9D71-154C-792E83F9EF0B}"/>
            </a:ext>
          </a:extLst>
        </p:cNvPr>
        <p:cNvGrpSpPr/>
        <p:nvPr/>
      </p:nvGrpSpPr>
      <p:grpSpPr>
        <a:xfrm>
          <a:off x="0" y="0"/>
          <a:ext cx="0" cy="0"/>
          <a:chOff x="0" y="0"/>
          <a:chExt cx="0" cy="0"/>
        </a:xfrm>
      </p:grpSpPr>
      <p:sp>
        <p:nvSpPr>
          <p:cNvPr id="190" name="Text 1">
            <a:extLst>
              <a:ext uri="{FF2B5EF4-FFF2-40B4-BE49-F238E27FC236}">
                <a16:creationId xmlns:a16="http://schemas.microsoft.com/office/drawing/2014/main" id="{DEA991E4-610E-800A-2125-D3129F8F504B}"/>
              </a:ext>
            </a:extLst>
          </p:cNvPr>
          <p:cNvSpPr txBox="1"/>
          <p:nvPr/>
        </p:nvSpPr>
        <p:spPr>
          <a:xfrm>
            <a:off x="658368" y="566927"/>
            <a:ext cx="8138160" cy="5303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defRPr sz="2700" b="1">
                <a:solidFill>
                  <a:srgbClr val="1E2B4A"/>
                </a:solidFill>
              </a:defRPr>
            </a:lvl1pPr>
          </a:lstStyle>
          <a:p>
            <a:r>
              <a:rPr lang="de-DE" dirty="0"/>
              <a:t>Risikofaktoren: </a:t>
            </a:r>
            <a:endParaRPr dirty="0"/>
          </a:p>
        </p:txBody>
      </p:sp>
      <p:sp>
        <p:nvSpPr>
          <p:cNvPr id="191" name="Datenquelle: National Health and Nutrition Examination Survey…">
            <a:extLst>
              <a:ext uri="{FF2B5EF4-FFF2-40B4-BE49-F238E27FC236}">
                <a16:creationId xmlns:a16="http://schemas.microsoft.com/office/drawing/2014/main" id="{EB2E82E8-DE98-079C-5EC3-5265A483644E}"/>
              </a:ext>
            </a:extLst>
          </p:cNvPr>
          <p:cNvSpPr txBox="1"/>
          <p:nvPr/>
        </p:nvSpPr>
        <p:spPr>
          <a:xfrm>
            <a:off x="690005" y="1653602"/>
            <a:ext cx="9570543" cy="3883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b="1">
                <a:solidFill>
                  <a:srgbClr val="212B48"/>
                </a:solidFill>
              </a:defRPr>
            </a:pPr>
            <a:endParaRPr dirty="0"/>
          </a:p>
        </p:txBody>
      </p:sp>
      <p:sp>
        <p:nvSpPr>
          <p:cNvPr id="192" name="Foliennummer">
            <a:extLst>
              <a:ext uri="{FF2B5EF4-FFF2-40B4-BE49-F238E27FC236}">
                <a16:creationId xmlns:a16="http://schemas.microsoft.com/office/drawing/2014/main" id="{3B2F618D-CCE1-FF0C-7E5B-8A9515E80E2F}"/>
              </a:ext>
            </a:extLst>
          </p:cNvP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pic>
        <p:nvPicPr>
          <p:cNvPr id="3" name="Grafik 2">
            <a:extLst>
              <a:ext uri="{FF2B5EF4-FFF2-40B4-BE49-F238E27FC236}">
                <a16:creationId xmlns:a16="http://schemas.microsoft.com/office/drawing/2014/main" id="{264B9501-7140-51AA-4BDF-E8BED07B68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8972" y="1476907"/>
            <a:ext cx="6325220" cy="4012774"/>
          </a:xfrm>
          <a:prstGeom prst="rect">
            <a:avLst/>
          </a:prstGeom>
        </p:spPr>
      </p:pic>
    </p:spTree>
    <p:extLst>
      <p:ext uri="{BB962C8B-B14F-4D97-AF65-F5344CB8AC3E}">
        <p14:creationId xmlns:p14="http://schemas.microsoft.com/office/powerpoint/2010/main" val="294969997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212B48"/>
                </a:solidFill>
              </a:defRPr>
            </a:lvl1pPr>
          </a:lstStyle>
          <a:p>
            <a:r>
              <a:t>Datenaufbereitung &amp; Analyse</a:t>
            </a:r>
          </a:p>
        </p:txBody>
      </p:sp>
      <p:sp>
        <p:nvSpPr>
          <p:cNvPr id="242" name="Text 1"/>
          <p:cNvSpPr txBox="1"/>
          <p:nvPr/>
        </p:nvSpPr>
        <p:spPr>
          <a:xfrm>
            <a:off x="705718" y="1234439"/>
            <a:ext cx="7643269" cy="2714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500">
                <a:solidFill>
                  <a:srgbClr val="5F7085"/>
                </a:solidFill>
                <a:latin typeface="Aptos"/>
                <a:ea typeface="Aptos"/>
                <a:cs typeface="Aptos"/>
                <a:sym typeface="Aptos"/>
              </a:defRPr>
            </a:lvl1pPr>
          </a:lstStyle>
          <a:p>
            <a:r>
              <a:t>Von den NHANES-Rohdaten zum Klassifikationsmodell</a:t>
            </a:r>
          </a:p>
        </p:txBody>
      </p:sp>
      <p:sp>
        <p:nvSpPr>
          <p:cNvPr id="243" name="Text 2"/>
          <p:cNvSpPr txBox="1"/>
          <p:nvPr/>
        </p:nvSpPr>
        <p:spPr>
          <a:xfrm>
            <a:off x="959965" y="2073137"/>
            <a:ext cx="1370148"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Analyseschritt</a:t>
            </a:r>
          </a:p>
        </p:txBody>
      </p:sp>
      <p:sp>
        <p:nvSpPr>
          <p:cNvPr id="244" name="Text 3"/>
          <p:cNvSpPr txBox="1"/>
          <p:nvPr/>
        </p:nvSpPr>
        <p:spPr>
          <a:xfrm>
            <a:off x="6243492" y="2073137"/>
            <a:ext cx="1173814"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Auswertung</a:t>
            </a:r>
          </a:p>
        </p:txBody>
      </p:sp>
      <p:sp>
        <p:nvSpPr>
          <p:cNvPr id="245" name="Text 4"/>
          <p:cNvSpPr txBox="1"/>
          <p:nvPr/>
        </p:nvSpPr>
        <p:spPr>
          <a:xfrm>
            <a:off x="8800190" y="2073137"/>
            <a:ext cx="2666258"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Ziel der Analyse</a:t>
            </a:r>
          </a:p>
        </p:txBody>
      </p:sp>
      <p:graphicFrame>
        <p:nvGraphicFramePr>
          <p:cNvPr id="246" name="Tabelle 1"/>
          <p:cNvGraphicFramePr/>
          <p:nvPr/>
        </p:nvGraphicFramePr>
        <p:xfrm>
          <a:off x="751050" y="2477986"/>
          <a:ext cx="10789400" cy="2521624"/>
        </p:xfrm>
        <a:graphic>
          <a:graphicData uri="http://schemas.openxmlformats.org/drawingml/2006/table">
            <a:tbl>
              <a:tblPr bandRow="1">
                <a:tableStyleId>{CF821DB8-F4EB-4A41-A1BA-3FCAFE7338EE}</a:tableStyleId>
              </a:tblPr>
              <a:tblGrid>
                <a:gridCol w="2157880">
                  <a:extLst>
                    <a:ext uri="{9D8B030D-6E8A-4147-A177-3AD203B41FA5}">
                      <a16:colId xmlns:a16="http://schemas.microsoft.com/office/drawing/2014/main" val="20000"/>
                    </a:ext>
                  </a:extLst>
                </a:gridCol>
                <a:gridCol w="2157880">
                  <a:extLst>
                    <a:ext uri="{9D8B030D-6E8A-4147-A177-3AD203B41FA5}">
                      <a16:colId xmlns:a16="http://schemas.microsoft.com/office/drawing/2014/main" val="20001"/>
                    </a:ext>
                  </a:extLst>
                </a:gridCol>
                <a:gridCol w="2157880">
                  <a:extLst>
                    <a:ext uri="{9D8B030D-6E8A-4147-A177-3AD203B41FA5}">
                      <a16:colId xmlns:a16="http://schemas.microsoft.com/office/drawing/2014/main" val="20002"/>
                    </a:ext>
                  </a:extLst>
                </a:gridCol>
                <a:gridCol w="2157880">
                  <a:extLst>
                    <a:ext uri="{9D8B030D-6E8A-4147-A177-3AD203B41FA5}">
                      <a16:colId xmlns:a16="http://schemas.microsoft.com/office/drawing/2014/main" val="20003"/>
                    </a:ext>
                  </a:extLst>
                </a:gridCol>
                <a:gridCol w="2157880">
                  <a:extLst>
                    <a:ext uri="{9D8B030D-6E8A-4147-A177-3AD203B41FA5}">
                      <a16:colId xmlns:a16="http://schemas.microsoft.com/office/drawing/2014/main" val="20004"/>
                    </a:ext>
                  </a:extLst>
                </a:gridCol>
              </a:tblGrid>
              <a:tr h="630406">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extLst>
                  <a:ext uri="{0D108BD9-81ED-4DB2-BD59-A6C34878D82A}">
                    <a16:rowId xmlns:a16="http://schemas.microsoft.com/office/drawing/2014/main" val="10000"/>
                  </a:ext>
                </a:extLst>
              </a:tr>
              <a:tr h="630406">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extLst>
                  <a:ext uri="{0D108BD9-81ED-4DB2-BD59-A6C34878D82A}">
                    <a16:rowId xmlns:a16="http://schemas.microsoft.com/office/drawing/2014/main" val="10001"/>
                  </a:ext>
                </a:extLst>
              </a:tr>
              <a:tr h="630406">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tc>
                  <a:txBody>
                    <a:bodyPr/>
                    <a:lstStyle/>
                    <a:p>
                      <a:pPr>
                        <a:defRPr sz="1800"/>
                      </a:pPr>
                      <a:endParaRPr/>
                    </a:p>
                  </a:txBody>
                  <a:tcPr marL="0" marR="0" marT="0" marB="0" horzOverflow="overflow">
                    <a:solidFill>
                      <a:srgbClr val="E3F2F9"/>
                    </a:solidFill>
                  </a:tcPr>
                </a:tc>
                <a:extLst>
                  <a:ext uri="{0D108BD9-81ED-4DB2-BD59-A6C34878D82A}">
                    <a16:rowId xmlns:a16="http://schemas.microsoft.com/office/drawing/2014/main" val="10002"/>
                  </a:ext>
                </a:extLst>
              </a:tr>
              <a:tr h="630406">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a:p>
                  </a:txBody>
                  <a:tcPr marL="0" marR="0" marT="0" marB="0" horzOverflow="overflow"/>
                </a:tc>
                <a:tc>
                  <a:txBody>
                    <a:bodyPr/>
                    <a:lstStyle/>
                    <a:p>
                      <a:pPr>
                        <a:defRPr sz="1800"/>
                      </a:pPr>
                      <a:endParaRPr dirty="0"/>
                    </a:p>
                  </a:txBody>
                  <a:tcPr marL="0" marR="0" marT="0" marB="0" horzOverflow="overflow"/>
                </a:tc>
                <a:extLst>
                  <a:ext uri="{0D108BD9-81ED-4DB2-BD59-A6C34878D82A}">
                    <a16:rowId xmlns:a16="http://schemas.microsoft.com/office/drawing/2014/main" val="10003"/>
                  </a:ext>
                </a:extLst>
              </a:tr>
            </a:tbl>
          </a:graphicData>
        </a:graphic>
      </p:graphicFrame>
      <p:sp>
        <p:nvSpPr>
          <p:cNvPr id="247" name="Text 7"/>
          <p:cNvSpPr txBox="1"/>
          <p:nvPr/>
        </p:nvSpPr>
        <p:spPr>
          <a:xfrm>
            <a:off x="934565" y="2612674"/>
            <a:ext cx="1370148"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1 Datensatzaufbau</a:t>
            </a:r>
          </a:p>
        </p:txBody>
      </p:sp>
      <p:sp>
        <p:nvSpPr>
          <p:cNvPr id="248" name="Text 9"/>
          <p:cNvSpPr txBox="1"/>
          <p:nvPr/>
        </p:nvSpPr>
        <p:spPr>
          <a:xfrm>
            <a:off x="6229670" y="2612294"/>
            <a:ext cx="2399632"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b="1">
                <a:solidFill>
                  <a:srgbClr val="2F7BBE"/>
                </a:solidFill>
              </a:defRPr>
            </a:lvl1pPr>
          </a:lstStyle>
          <a:p>
            <a:r>
              <a:t>Datenstruktur geprüft</a:t>
            </a:r>
          </a:p>
        </p:txBody>
      </p:sp>
      <p:sp>
        <p:nvSpPr>
          <p:cNvPr id="249" name="Text 10"/>
          <p:cNvSpPr txBox="1"/>
          <p:nvPr/>
        </p:nvSpPr>
        <p:spPr>
          <a:xfrm>
            <a:off x="8782914" y="2561494"/>
            <a:ext cx="2399632" cy="4783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rPr dirty="0" err="1"/>
              <a:t>Personenbezogenen</a:t>
            </a:r>
            <a:r>
              <a:rPr dirty="0"/>
              <a:t> </a:t>
            </a:r>
            <a:r>
              <a:rPr dirty="0" err="1"/>
              <a:t>Datensatz</a:t>
            </a:r>
            <a:r>
              <a:rPr dirty="0"/>
              <a:t> für die ML-</a:t>
            </a:r>
            <a:r>
              <a:rPr dirty="0" err="1"/>
              <a:t>Analyse</a:t>
            </a:r>
            <a:r>
              <a:rPr dirty="0"/>
              <a:t> </a:t>
            </a:r>
            <a:r>
              <a:rPr dirty="0" err="1"/>
              <a:t>erstellen</a:t>
            </a:r>
            <a:endParaRPr dirty="0"/>
          </a:p>
        </p:txBody>
      </p:sp>
      <p:sp>
        <p:nvSpPr>
          <p:cNvPr id="250" name="Text 21"/>
          <p:cNvSpPr txBox="1"/>
          <p:nvPr/>
        </p:nvSpPr>
        <p:spPr>
          <a:xfrm>
            <a:off x="6232328" y="3254623"/>
            <a:ext cx="2399632" cy="3275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lnSpcReduction="10000"/>
          </a:bodyPr>
          <a:lstStyle>
            <a:lvl1pPr defTabSz="886968">
              <a:defRPr sz="1164" b="1">
                <a:solidFill>
                  <a:srgbClr val="2F7BBE"/>
                </a:solidFill>
              </a:defRPr>
            </a:lvl1pPr>
          </a:lstStyle>
          <a:p>
            <a:r>
              <a:t>Verteilungen &amp; Gruppenvergleiche</a:t>
            </a:r>
          </a:p>
        </p:txBody>
      </p:sp>
      <p:sp>
        <p:nvSpPr>
          <p:cNvPr id="251" name="Text 22"/>
          <p:cNvSpPr txBox="1"/>
          <p:nvPr/>
        </p:nvSpPr>
        <p:spPr>
          <a:xfrm>
            <a:off x="8785573" y="3203823"/>
            <a:ext cx="2695492" cy="4503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defTabSz="850391">
              <a:defRPr sz="1116">
                <a:solidFill>
                  <a:srgbClr val="5F7085"/>
                </a:solidFill>
              </a:defRPr>
            </a:lvl1pPr>
          </a:lstStyle>
          <a:p>
            <a:r>
              <a:rPr dirty="0" err="1"/>
              <a:t>Hypertonie</a:t>
            </a:r>
            <a:r>
              <a:rPr dirty="0"/>
              <a:t>-Muster </a:t>
            </a:r>
            <a:r>
              <a:rPr dirty="0" err="1"/>
              <a:t>nach</a:t>
            </a:r>
            <a:r>
              <a:rPr dirty="0"/>
              <a:t> </a:t>
            </a:r>
            <a:r>
              <a:rPr lang="de-DE" dirty="0"/>
              <a:t>wichtigen Merkmalen </a:t>
            </a:r>
            <a:r>
              <a:rPr dirty="0" err="1"/>
              <a:t>erkennen</a:t>
            </a:r>
            <a:endParaRPr dirty="0"/>
          </a:p>
        </p:txBody>
      </p:sp>
      <p:sp>
        <p:nvSpPr>
          <p:cNvPr id="252" name="Text 2"/>
          <p:cNvSpPr txBox="1"/>
          <p:nvPr/>
        </p:nvSpPr>
        <p:spPr>
          <a:xfrm>
            <a:off x="2826567" y="2073137"/>
            <a:ext cx="1663201" cy="222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1200" b="1">
                <a:solidFill>
                  <a:srgbClr val="212B48"/>
                </a:solidFill>
              </a:defRPr>
            </a:lvl1pPr>
          </a:lstStyle>
          <a:p>
            <a:r>
              <a:t>Datenaufbereitung</a:t>
            </a:r>
          </a:p>
        </p:txBody>
      </p:sp>
      <p:sp>
        <p:nvSpPr>
          <p:cNvPr id="253" name="Text 7"/>
          <p:cNvSpPr txBox="1"/>
          <p:nvPr/>
        </p:nvSpPr>
        <p:spPr>
          <a:xfrm>
            <a:off x="869220" y="3249974"/>
            <a:ext cx="1663200" cy="3326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2 Bereinigung &amp; EDA</a:t>
            </a:r>
          </a:p>
        </p:txBody>
      </p:sp>
      <p:sp>
        <p:nvSpPr>
          <p:cNvPr id="254" name="Text 10"/>
          <p:cNvSpPr txBox="1"/>
          <p:nvPr/>
        </p:nvSpPr>
        <p:spPr>
          <a:xfrm>
            <a:off x="2823192" y="2539224"/>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pPr>
              <a:defRPr sz="1200">
                <a:solidFill>
                  <a:srgbClr val="5F7085"/>
                </a:solidFill>
              </a:defRPr>
            </a:pPr>
            <a:r>
              <a:rPr lang="de-DE" sz="1200" dirty="0"/>
              <a:t>NHANES-Dateien über </a:t>
            </a:r>
            <a:r>
              <a:rPr lang="de-DE" sz="1200" b="1" dirty="0"/>
              <a:t>SEQN</a:t>
            </a:r>
            <a:r>
              <a:rPr lang="de-DE" sz="1200" dirty="0"/>
              <a:t> zusammengeführt</a:t>
            </a:r>
            <a:endParaRPr dirty="0"/>
          </a:p>
        </p:txBody>
      </p:sp>
      <p:sp>
        <p:nvSpPr>
          <p:cNvPr id="255" name="Text 10"/>
          <p:cNvSpPr txBox="1"/>
          <p:nvPr/>
        </p:nvSpPr>
        <p:spPr>
          <a:xfrm>
            <a:off x="2823192" y="3163823"/>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lnSpcReduction="10000"/>
          </a:bodyPr>
          <a:lstStyle>
            <a:lvl1pPr>
              <a:defRPr sz="1200">
                <a:solidFill>
                  <a:srgbClr val="5F7085"/>
                </a:solidFill>
              </a:defRPr>
            </a:lvl1pPr>
          </a:lstStyle>
          <a:p>
            <a:r>
              <a:rPr lang="de-DE" dirty="0"/>
              <a:t>Zielvariable rekodiert, </a:t>
            </a:r>
            <a:r>
              <a:rPr lang="de-DE" dirty="0" err="1"/>
              <a:t>Missing</a:t>
            </a:r>
            <a:r>
              <a:rPr lang="de-DE" dirty="0"/>
              <a:t> Values variablenspezifisch behandelt, Features vorbereitet</a:t>
            </a:r>
            <a:endParaRPr dirty="0"/>
          </a:p>
        </p:txBody>
      </p:sp>
      <p:sp>
        <p:nvSpPr>
          <p:cNvPr id="256" name="Text 21"/>
          <p:cNvSpPr txBox="1"/>
          <p:nvPr/>
        </p:nvSpPr>
        <p:spPr>
          <a:xfrm>
            <a:off x="6229670" y="3864185"/>
            <a:ext cx="2399632" cy="3275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lnSpcReduction="10000"/>
          </a:bodyPr>
          <a:lstStyle>
            <a:lvl1pPr defTabSz="877823">
              <a:defRPr sz="1152" b="1">
                <a:solidFill>
                  <a:srgbClr val="2F7BBE"/>
                </a:solidFill>
              </a:defRPr>
            </a:lvl1pPr>
          </a:lstStyle>
          <a:p>
            <a:r>
              <a:t>Logistic Regression, Random Forest, Decision Tree</a:t>
            </a:r>
          </a:p>
        </p:txBody>
      </p:sp>
      <p:sp>
        <p:nvSpPr>
          <p:cNvPr id="257" name="Text 22"/>
          <p:cNvSpPr txBox="1"/>
          <p:nvPr/>
        </p:nvSpPr>
        <p:spPr>
          <a:xfrm>
            <a:off x="8785573" y="3779572"/>
            <a:ext cx="2572699" cy="45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rPr lang="de-DE" dirty="0"/>
              <a:t>Modellleistung vergleichen</a:t>
            </a:r>
            <a:endParaRPr dirty="0"/>
          </a:p>
        </p:txBody>
      </p:sp>
      <p:sp>
        <p:nvSpPr>
          <p:cNvPr id="258" name="Text 7"/>
          <p:cNvSpPr txBox="1"/>
          <p:nvPr/>
        </p:nvSpPr>
        <p:spPr>
          <a:xfrm>
            <a:off x="906565" y="3889223"/>
            <a:ext cx="1173814" cy="332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3 Modellierung</a:t>
            </a:r>
          </a:p>
        </p:txBody>
      </p:sp>
      <p:sp>
        <p:nvSpPr>
          <p:cNvPr id="259" name="Text 10"/>
          <p:cNvSpPr txBox="1"/>
          <p:nvPr/>
        </p:nvSpPr>
        <p:spPr>
          <a:xfrm>
            <a:off x="2810492" y="3777672"/>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rPr lang="de-DE" dirty="0"/>
              <a:t>Features und Zielvariable getrennt, Train-Test-Split durchgeführt</a:t>
            </a:r>
            <a:endParaRPr dirty="0"/>
          </a:p>
        </p:txBody>
      </p:sp>
      <p:sp>
        <p:nvSpPr>
          <p:cNvPr id="260" name="Text 21"/>
          <p:cNvSpPr txBox="1"/>
          <p:nvPr/>
        </p:nvSpPr>
        <p:spPr>
          <a:xfrm>
            <a:off x="6237408" y="4441118"/>
            <a:ext cx="2399632" cy="3275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b="1">
                <a:solidFill>
                  <a:srgbClr val="2F7BBE"/>
                </a:solidFill>
              </a:defRPr>
            </a:lvl1pPr>
          </a:lstStyle>
          <a:p>
            <a:r>
              <a:t>Feature Importance</a:t>
            </a:r>
          </a:p>
        </p:txBody>
      </p:sp>
      <p:sp>
        <p:nvSpPr>
          <p:cNvPr id="261" name="Text 22"/>
          <p:cNvSpPr txBox="1"/>
          <p:nvPr/>
        </p:nvSpPr>
        <p:spPr>
          <a:xfrm>
            <a:off x="8790653" y="4415718"/>
            <a:ext cx="2562540" cy="45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t>Wichtigste Einflussmerkmale für die Vorhersage identifizieren</a:t>
            </a:r>
          </a:p>
        </p:txBody>
      </p:sp>
      <p:sp>
        <p:nvSpPr>
          <p:cNvPr id="262" name="Text 7"/>
          <p:cNvSpPr txBox="1"/>
          <p:nvPr/>
        </p:nvSpPr>
        <p:spPr>
          <a:xfrm>
            <a:off x="862314" y="4525369"/>
            <a:ext cx="1804210" cy="332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gn="ctr">
              <a:defRPr sz="1200" b="1">
                <a:solidFill>
                  <a:srgbClr val="1C2945"/>
                </a:solidFill>
              </a:defRPr>
            </a:lvl1pPr>
          </a:lstStyle>
          <a:p>
            <a:r>
              <a:t>4 Modellinterpretation</a:t>
            </a:r>
          </a:p>
        </p:txBody>
      </p:sp>
      <p:sp>
        <p:nvSpPr>
          <p:cNvPr id="263" name="Text 10"/>
          <p:cNvSpPr txBox="1"/>
          <p:nvPr/>
        </p:nvSpPr>
        <p:spPr>
          <a:xfrm>
            <a:off x="2815572" y="4426518"/>
            <a:ext cx="3250523"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defRPr sz="1200">
                <a:solidFill>
                  <a:srgbClr val="5F7085"/>
                </a:solidFill>
              </a:defRPr>
            </a:lvl1pPr>
          </a:lstStyle>
          <a:p>
            <a:r>
              <a:rPr lang="de-DE" dirty="0"/>
              <a:t>Finales Modell ausgewählt, Koeffizienten ausgewertet</a:t>
            </a:r>
            <a:endParaRPr dirty="0"/>
          </a:p>
        </p:txBody>
      </p:sp>
      <p:sp>
        <p:nvSpPr>
          <p:cNvPr id="264" name="Foliennumme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0EA8-7A3F-4023-1548-5D67143A0F48}"/>
            </a:ext>
          </a:extLst>
        </p:cNvPr>
        <p:cNvGrpSpPr/>
        <p:nvPr/>
      </p:nvGrpSpPr>
      <p:grpSpPr>
        <a:xfrm>
          <a:off x="0" y="0"/>
          <a:ext cx="0" cy="0"/>
          <a:chOff x="0" y="0"/>
          <a:chExt cx="0" cy="0"/>
        </a:xfrm>
      </p:grpSpPr>
      <p:sp>
        <p:nvSpPr>
          <p:cNvPr id="266" name="Text 1">
            <a:extLst>
              <a:ext uri="{FF2B5EF4-FFF2-40B4-BE49-F238E27FC236}">
                <a16:creationId xmlns:a16="http://schemas.microsoft.com/office/drawing/2014/main" id="{60D82FA3-287E-1D82-5A0B-0C8884EB2B42}"/>
              </a:ext>
            </a:extLst>
          </p:cNvPr>
          <p:cNvSpPr txBox="1"/>
          <p:nvPr/>
        </p:nvSpPr>
        <p:spPr>
          <a:xfrm>
            <a:off x="658368" y="566927"/>
            <a:ext cx="8138160" cy="5303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defRPr sz="2700" b="1">
                <a:solidFill>
                  <a:srgbClr val="1E2B4A"/>
                </a:solidFill>
              </a:defRPr>
            </a:lvl1pPr>
          </a:lstStyle>
          <a:p>
            <a:r>
              <a:rPr lang="de-DE" dirty="0"/>
              <a:t>Modellierung</a:t>
            </a:r>
            <a:endParaRPr dirty="0"/>
          </a:p>
        </p:txBody>
      </p:sp>
      <p:sp>
        <p:nvSpPr>
          <p:cNvPr id="267" name="Ein Machine-Learning-Modell konnte zur Vorhersage des Hypertonie-Status auf Basis individueller NHANES-Daten aufgebaut werden.…">
            <a:extLst>
              <a:ext uri="{FF2B5EF4-FFF2-40B4-BE49-F238E27FC236}">
                <a16:creationId xmlns:a16="http://schemas.microsoft.com/office/drawing/2014/main" id="{7362C842-FF68-7B2E-7B3C-C028D9079A42}"/>
              </a:ext>
            </a:extLst>
          </p:cNvPr>
          <p:cNvSpPr txBox="1"/>
          <p:nvPr/>
        </p:nvSpPr>
        <p:spPr>
          <a:xfrm>
            <a:off x="835698" y="1631340"/>
            <a:ext cx="9954153" cy="41969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140368" indent="-140368" defTabSz="12700">
              <a:lnSpc>
                <a:spcPct val="135000"/>
              </a:lnSpc>
              <a:buSzPct val="100000"/>
              <a:buFontTx/>
              <a:buChar char="•"/>
              <a:defRPr sz="1400"/>
            </a:pPr>
            <a:r>
              <a:rPr lang="de-DE" sz="1400" dirty="0"/>
              <a:t>getestete Modelle: logistische Regression, Random Forest, </a:t>
            </a:r>
            <a:r>
              <a:rPr lang="de-DE" sz="1400" dirty="0" err="1"/>
              <a:t>Decision</a:t>
            </a:r>
            <a:r>
              <a:rPr lang="de-DE" sz="1400" dirty="0"/>
              <a:t> Tree</a:t>
            </a:r>
          </a:p>
          <a:p>
            <a:pPr marL="140368" indent="-140368" defTabSz="12700">
              <a:lnSpc>
                <a:spcPct val="135000"/>
              </a:lnSpc>
              <a:buSzPct val="100000"/>
              <a:buFontTx/>
              <a:buChar char="•"/>
              <a:defRPr sz="1400"/>
            </a:pPr>
            <a:r>
              <a:rPr lang="de-DE" sz="1400" dirty="0"/>
              <a:t>Anpassung: Threshold 0,4  zur Erhöhung des </a:t>
            </a:r>
            <a:r>
              <a:rPr lang="de-DE" sz="1400" dirty="0" err="1"/>
              <a:t>Recalls</a:t>
            </a:r>
            <a:r>
              <a:rPr lang="de-DE" sz="1400" dirty="0"/>
              <a:t> </a:t>
            </a:r>
          </a:p>
          <a:p>
            <a:pPr marL="140368" indent="-140368" defTabSz="12700">
              <a:lnSpc>
                <a:spcPct val="135000"/>
              </a:lnSpc>
              <a:buSzPct val="100000"/>
              <a:buFontTx/>
              <a:buChar char="•"/>
              <a:defRPr sz="1400"/>
            </a:pPr>
            <a:r>
              <a:rPr lang="de-DE" sz="1400" dirty="0" err="1"/>
              <a:t>class_weight</a:t>
            </a:r>
            <a:r>
              <a:rPr lang="de-DE" sz="1400" dirty="0"/>
              <a:t>="</a:t>
            </a:r>
            <a:r>
              <a:rPr lang="de-DE" sz="1400" dirty="0" err="1"/>
              <a:t>balanced</a:t>
            </a:r>
            <a:r>
              <a:rPr lang="de-DE" sz="1400" dirty="0"/>
              <a:t>" wegen ungleicher Klassenverteilung</a:t>
            </a:r>
          </a:p>
          <a:p>
            <a:pPr marL="140368" indent="-140368" defTabSz="12700">
              <a:lnSpc>
                <a:spcPct val="135000"/>
              </a:lnSpc>
              <a:buSzPct val="100000"/>
              <a:buFontTx/>
              <a:buChar char="•"/>
              <a:defRPr sz="1400"/>
            </a:pPr>
            <a:r>
              <a:rPr lang="de-DE" sz="1400" dirty="0"/>
              <a:t>Bewertung: </a:t>
            </a:r>
            <a:r>
              <a:rPr lang="de-DE" sz="1400" dirty="0" err="1"/>
              <a:t>Accuracy</a:t>
            </a:r>
            <a:r>
              <a:rPr lang="de-DE" sz="1400" dirty="0"/>
              <a:t>, Precision, Recall, F1-Score, ROC-AUC</a:t>
            </a:r>
          </a:p>
          <a:p>
            <a:pPr marL="140368" indent="-140368" defTabSz="12700">
              <a:lnSpc>
                <a:spcPct val="135000"/>
              </a:lnSpc>
              <a:buSzPct val="100000"/>
              <a:buFontTx/>
              <a:buChar char="•"/>
              <a:defRPr sz="1400"/>
            </a:pPr>
            <a:r>
              <a:rPr lang="de-DE" sz="1400" dirty="0"/>
              <a:t>Fokus: </a:t>
            </a:r>
            <a:r>
              <a:rPr lang="de-DE" sz="1400" b="1" dirty="0"/>
              <a:t>Recall, F1-Score, ROC-AUC</a:t>
            </a:r>
          </a:p>
          <a:p>
            <a:pPr marL="285750" lvl="8" indent="-285750" defTabSz="12700">
              <a:lnSpc>
                <a:spcPct val="135000"/>
              </a:lnSpc>
              <a:buSzPct val="100000"/>
              <a:buFont typeface="Arial" panose="020B0604020202020204" pitchFamily="34" charset="0"/>
              <a:buChar char="•"/>
              <a:defRPr sz="1400"/>
            </a:pPr>
            <a:r>
              <a:rPr lang="de-DE" sz="1400" dirty="0"/>
              <a:t> Recall</a:t>
            </a:r>
            <a:r>
              <a:rPr lang="de-DE" sz="1400" dirty="0">
                <a:sym typeface="Wingdings" panose="05000000000000000000" pitchFamily="2" charset="2"/>
              </a:rPr>
              <a:t> </a:t>
            </a:r>
            <a:r>
              <a:rPr lang="de-DE" dirty="0"/>
              <a:t>weil Hypertonie-Fälle möglichst nicht übersehen werden sollten</a:t>
            </a:r>
            <a:endParaRPr lang="de-DE" sz="1400" dirty="0"/>
          </a:p>
          <a:p>
            <a:pPr marL="285750" lvl="8" indent="-285750" defTabSz="12700">
              <a:lnSpc>
                <a:spcPct val="135000"/>
              </a:lnSpc>
              <a:buSzPct val="100000"/>
              <a:buFont typeface="Arial" panose="020B0604020202020204" pitchFamily="34" charset="0"/>
              <a:buChar char="•"/>
              <a:defRPr sz="1400"/>
            </a:pPr>
            <a:r>
              <a:rPr lang="de-DE" sz="1400" dirty="0"/>
              <a:t> F1-Score</a:t>
            </a:r>
            <a:r>
              <a:rPr lang="de-DE" sz="1400" dirty="0">
                <a:sym typeface="Wingdings" panose="05000000000000000000" pitchFamily="2" charset="2"/>
              </a:rPr>
              <a:t> </a:t>
            </a:r>
            <a:r>
              <a:rPr lang="de-DE" dirty="0"/>
              <a:t>zeigt das Verhältnis zwischen Recall und Precision</a:t>
            </a:r>
            <a:endParaRPr lang="de-DE" sz="1400" dirty="0">
              <a:sym typeface="Wingdings" panose="05000000000000000000" pitchFamily="2" charset="2"/>
            </a:endParaRPr>
          </a:p>
          <a:p>
            <a:pPr marL="285750" lvl="8" indent="-285750" defTabSz="12700">
              <a:lnSpc>
                <a:spcPct val="135000"/>
              </a:lnSpc>
              <a:buSzPct val="100000"/>
              <a:buFont typeface="Arial" panose="020B0604020202020204" pitchFamily="34" charset="0"/>
              <a:buChar char="•"/>
              <a:defRPr sz="1400"/>
            </a:pPr>
            <a:r>
              <a:rPr lang="de-DE" sz="1400" dirty="0">
                <a:sym typeface="Wingdings" panose="05000000000000000000" pitchFamily="2" charset="2"/>
              </a:rPr>
              <a:t> </a:t>
            </a:r>
            <a:r>
              <a:rPr lang="de-DE" sz="1400" dirty="0"/>
              <a:t>ROC-AUC </a:t>
            </a:r>
            <a:r>
              <a:rPr lang="de-DE" sz="1400" dirty="0">
                <a:sym typeface="Wingdings" panose="05000000000000000000" pitchFamily="2" charset="2"/>
              </a:rPr>
              <a:t> </a:t>
            </a:r>
            <a:r>
              <a:rPr lang="de-DE" dirty="0"/>
              <a:t>zeigt, wie gut das Modell zwischen Personen mit und ohne Hypertonie unterscheiden kann</a:t>
            </a:r>
            <a:endParaRPr lang="de-DE" sz="1400" dirty="0"/>
          </a:p>
          <a:p>
            <a:pPr marL="140368" indent="-140368" defTabSz="12700">
              <a:lnSpc>
                <a:spcPct val="135000"/>
              </a:lnSpc>
              <a:buSzPct val="100000"/>
              <a:buFontTx/>
              <a:buChar char="•"/>
              <a:defRPr sz="1400"/>
            </a:pPr>
            <a:r>
              <a:rPr lang="de-DE" sz="1400" dirty="0"/>
              <a:t>finales Modell: logistische Regression mit</a:t>
            </a:r>
          </a:p>
          <a:p>
            <a:pPr marL="285750" indent="-285750">
              <a:buFont typeface="Arial" panose="020B0604020202020204" pitchFamily="34" charset="0"/>
              <a:buChar char="•"/>
            </a:pPr>
            <a:r>
              <a:rPr lang="de-DE" sz="1400" dirty="0"/>
              <a:t>ROC-AUC: 0,81</a:t>
            </a:r>
          </a:p>
          <a:p>
            <a:pPr marL="285750" indent="-285750">
              <a:buFont typeface="Arial" panose="020B0604020202020204" pitchFamily="34" charset="0"/>
              <a:buChar char="•"/>
            </a:pPr>
            <a:r>
              <a:rPr lang="de-DE" sz="1400" dirty="0"/>
              <a:t>Recall: 0,85</a:t>
            </a:r>
          </a:p>
          <a:p>
            <a:pPr marL="285750" indent="-285750">
              <a:buFont typeface="Arial" panose="020B0604020202020204" pitchFamily="34" charset="0"/>
              <a:buChar char="•"/>
            </a:pPr>
            <a:r>
              <a:rPr lang="de-DE" sz="1400" dirty="0"/>
              <a:t>F1-Score: 0,68</a:t>
            </a:r>
          </a:p>
          <a:p>
            <a:pPr marL="140368" indent="-140368" defTabSz="12700">
              <a:lnSpc>
                <a:spcPct val="135000"/>
              </a:lnSpc>
              <a:buSzPct val="100000"/>
              <a:buFontTx/>
              <a:buChar char="•"/>
              <a:defRPr sz="1400"/>
            </a:pPr>
            <a:endParaRPr lang="de-DE" sz="1400" dirty="0"/>
          </a:p>
          <a:p>
            <a:pPr marL="140368" indent="-140368" defTabSz="12700">
              <a:lnSpc>
                <a:spcPct val="135000"/>
              </a:lnSpc>
              <a:buSzPct val="100000"/>
              <a:buFontTx/>
              <a:buChar char="•"/>
              <a:defRPr sz="1400"/>
            </a:pPr>
            <a:r>
              <a:rPr lang="de-DE" sz="1400" dirty="0"/>
              <a:t>Begründung: </a:t>
            </a:r>
            <a:r>
              <a:rPr lang="de-DE" dirty="0"/>
              <a:t>Beste Trennfähigkeit und hoher Recall für Hypertonie-Fälle.</a:t>
            </a:r>
            <a:endParaRPr lang="de-DE" sz="1400" dirty="0"/>
          </a:p>
          <a:p>
            <a:pPr marL="140368" indent="-140368" defTabSz="12700">
              <a:lnSpc>
                <a:spcPct val="135000"/>
              </a:lnSpc>
              <a:buSzPct val="100000"/>
              <a:buChar char="•"/>
              <a:defRPr sz="1400"/>
            </a:pPr>
            <a:endParaRPr dirty="0"/>
          </a:p>
        </p:txBody>
      </p:sp>
      <p:sp>
        <p:nvSpPr>
          <p:cNvPr id="268" name="Foliennummer">
            <a:extLst>
              <a:ext uri="{FF2B5EF4-FFF2-40B4-BE49-F238E27FC236}">
                <a16:creationId xmlns:a16="http://schemas.microsoft.com/office/drawing/2014/main" id="{5DAEAAB3-A781-1154-E28B-8E15EA413D69}"/>
              </a:ext>
            </a:extLst>
          </p:cNvP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p:spTree>
    <p:extLst>
      <p:ext uri="{BB962C8B-B14F-4D97-AF65-F5344CB8AC3E}">
        <p14:creationId xmlns:p14="http://schemas.microsoft.com/office/powerpoint/2010/main" val="208329355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endParaRPr dirty="0"/>
          </a:p>
        </p:txBody>
      </p:sp>
      <p:sp>
        <p:nvSpPr>
          <p:cNvPr id="267" name="Ein Machine-Learning-Modell konnte zur Vorhersage des Hypertonie-Status auf Basis individueller NHANES-Daten aufgebaut werden.…"/>
          <p:cNvSpPr txBox="1"/>
          <p:nvPr/>
        </p:nvSpPr>
        <p:spPr>
          <a:xfrm>
            <a:off x="835698" y="1631340"/>
            <a:ext cx="9954153" cy="3513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buSzPct val="100000"/>
              <a:defRPr sz="1400"/>
            </a:pPr>
            <a:endParaRPr dirty="0"/>
          </a:p>
        </p:txBody>
      </p:sp>
      <p:sp>
        <p:nvSpPr>
          <p:cNvPr id="268" name="Foliennumme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9" name="Textfeld 8">
            <a:extLst>
              <a:ext uri="{FF2B5EF4-FFF2-40B4-BE49-F238E27FC236}">
                <a16:creationId xmlns:a16="http://schemas.microsoft.com/office/drawing/2014/main" id="{3E2A86B8-45B4-086F-BE7C-767E703F8053}"/>
              </a:ext>
            </a:extLst>
          </p:cNvPr>
          <p:cNvSpPr txBox="1"/>
          <p:nvPr/>
        </p:nvSpPr>
        <p:spPr>
          <a:xfrm>
            <a:off x="658367" y="1502009"/>
            <a:ext cx="9550503" cy="18055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40368" indent="-140368" defTabSz="12700">
              <a:lnSpc>
                <a:spcPct val="135000"/>
              </a:lnSpc>
              <a:buSzPct val="100000"/>
              <a:buFontTx/>
              <a:buChar char="•"/>
              <a:defRPr sz="1400"/>
            </a:pPr>
            <a:r>
              <a:rPr lang="de-DE" sz="1400" dirty="0"/>
              <a:t>Top 3 Features der logistischen Regression</a:t>
            </a:r>
          </a:p>
          <a:p>
            <a:pPr marL="140368" indent="-140368" defTabSz="12700">
              <a:lnSpc>
                <a:spcPct val="135000"/>
              </a:lnSpc>
              <a:buSzPct val="100000"/>
              <a:buFontTx/>
              <a:buChar char="•"/>
              <a:defRPr sz="1400"/>
            </a:pPr>
            <a:r>
              <a:rPr lang="de-DE" sz="1400" b="1" dirty="0"/>
              <a:t>Alter: </a:t>
            </a:r>
            <a:r>
              <a:rPr lang="de-DE" sz="1400" dirty="0"/>
              <a:t>stärkster Einfluss auf die Hypertonie-Vorhersage</a:t>
            </a:r>
          </a:p>
          <a:p>
            <a:pPr marL="140368" indent="-140368" defTabSz="12700">
              <a:lnSpc>
                <a:spcPct val="135000"/>
              </a:lnSpc>
              <a:buSzPct val="100000"/>
              <a:buFontTx/>
              <a:buChar char="•"/>
              <a:defRPr sz="1400"/>
            </a:pPr>
            <a:r>
              <a:rPr lang="de-DE" sz="1400" b="1" dirty="0"/>
              <a:t>BMI: </a:t>
            </a:r>
            <a:r>
              <a:rPr lang="de-DE" sz="1400" dirty="0"/>
              <a:t>höherer BMI → höhere vorhergesagte Hypertonie-Wahrscheinlichkeit</a:t>
            </a:r>
          </a:p>
          <a:p>
            <a:pPr marL="140368" indent="-140368" defTabSz="12700">
              <a:lnSpc>
                <a:spcPct val="135000"/>
              </a:lnSpc>
              <a:buSzPct val="100000"/>
              <a:buFontTx/>
              <a:buChar char="•"/>
              <a:defRPr sz="1400"/>
            </a:pPr>
            <a:r>
              <a:rPr lang="de-DE" sz="1400" b="1" dirty="0"/>
              <a:t>Erhöhter Cholesterinstatus</a:t>
            </a:r>
            <a:r>
              <a:rPr lang="de-DE" sz="1400" dirty="0"/>
              <a:t>: positiver Zusammenhang mit Hypertonie im Modell</a:t>
            </a:r>
          </a:p>
          <a:p>
            <a:pPr marL="140368" indent="-140368" defTabSz="12700">
              <a:lnSpc>
                <a:spcPct val="135000"/>
              </a:lnSpc>
              <a:buSzPct val="100000"/>
              <a:buFontTx/>
              <a:buChar char="•"/>
              <a:defRPr sz="1400"/>
            </a:pPr>
            <a:r>
              <a:rPr lang="de-DE" dirty="0"/>
              <a:t>Wichtig ist dabei: Diese Feature-</a:t>
            </a:r>
            <a:r>
              <a:rPr lang="de-DE" dirty="0" err="1"/>
              <a:t>Importance</a:t>
            </a:r>
            <a:r>
              <a:rPr lang="de-DE" dirty="0"/>
              <a:t> zeigt modellbasierte Zusammenhänge. Sie bedeutet nicht automatisch, dass diese Faktoren kausal Hypertonie verursachen.</a:t>
            </a:r>
            <a:endParaRPr lang="de-DE" sz="1400" dirty="0"/>
          </a:p>
        </p:txBody>
      </p:sp>
      <p:sp>
        <p:nvSpPr>
          <p:cNvPr id="3" name="Textfeld 2">
            <a:extLst>
              <a:ext uri="{FF2B5EF4-FFF2-40B4-BE49-F238E27FC236}">
                <a16:creationId xmlns:a16="http://schemas.microsoft.com/office/drawing/2014/main" id="{60042D71-C4E9-FFBD-5613-15F1C16177D6}"/>
              </a:ext>
            </a:extLst>
          </p:cNvPr>
          <p:cNvSpPr txBox="1"/>
          <p:nvPr/>
        </p:nvSpPr>
        <p:spPr>
          <a:xfrm>
            <a:off x="658368" y="680981"/>
            <a:ext cx="61039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de-DE" sz="2400" b="1" dirty="0">
                <a:solidFill>
                  <a:srgbClr val="1E2B4A"/>
                </a:solidFill>
              </a:rPr>
              <a:t>Feature-</a:t>
            </a:r>
            <a:r>
              <a:rPr lang="de-DE" sz="2400" b="1" dirty="0" err="1">
                <a:solidFill>
                  <a:srgbClr val="1E2B4A"/>
                </a:solidFill>
              </a:rPr>
              <a:t>Importance</a:t>
            </a:r>
            <a:r>
              <a:rPr lang="de-DE" sz="2400" b="1" dirty="0">
                <a:solidFill>
                  <a:srgbClr val="1E2B4A"/>
                </a:solidFill>
              </a:rPr>
              <a:t> </a:t>
            </a:r>
            <a:r>
              <a:rPr lang="de-DE" sz="2400" b="1" dirty="0" err="1">
                <a:solidFill>
                  <a:srgbClr val="1E2B4A"/>
                </a:solidFill>
              </a:rPr>
              <a:t>analyse</a:t>
            </a:r>
            <a:endParaRPr lang="de-DE" sz="2400" b="1" dirty="0">
              <a:solidFill>
                <a:srgbClr val="1E2B4A"/>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8637F-C444-F6BF-56B2-8DD28FFD1C3B}"/>
            </a:ext>
          </a:extLst>
        </p:cNvPr>
        <p:cNvGrpSpPr/>
        <p:nvPr/>
      </p:nvGrpSpPr>
      <p:grpSpPr>
        <a:xfrm>
          <a:off x="0" y="0"/>
          <a:ext cx="0" cy="0"/>
          <a:chOff x="0" y="0"/>
          <a:chExt cx="0" cy="0"/>
        </a:xfrm>
      </p:grpSpPr>
      <p:sp>
        <p:nvSpPr>
          <p:cNvPr id="266" name="Text 1">
            <a:extLst>
              <a:ext uri="{FF2B5EF4-FFF2-40B4-BE49-F238E27FC236}">
                <a16:creationId xmlns:a16="http://schemas.microsoft.com/office/drawing/2014/main" id="{508AC73B-3658-CA0F-2FF6-35BDC930BBE8}"/>
              </a:ext>
            </a:extLst>
          </p:cNvPr>
          <p:cNvSpPr txBox="1"/>
          <p:nvPr/>
        </p:nvSpPr>
        <p:spPr>
          <a:xfrm>
            <a:off x="658368" y="566927"/>
            <a:ext cx="8138160" cy="5303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3" tIns="253" rIns="253" bIns="253" anchor="ctr">
            <a:normAutofit/>
          </a:bodyPr>
          <a:lstStyle>
            <a:lvl1pPr>
              <a:defRPr sz="2700" b="1">
                <a:solidFill>
                  <a:srgbClr val="1E2B4A"/>
                </a:solidFill>
              </a:defRPr>
            </a:lvl1pPr>
          </a:lstStyle>
          <a:p>
            <a:r>
              <a:t>Fazit</a:t>
            </a:r>
          </a:p>
        </p:txBody>
      </p:sp>
      <p:sp>
        <p:nvSpPr>
          <p:cNvPr id="267" name="Ein Machine-Learning-Modell konnte zur Vorhersage des Hypertonie-Status auf Basis individueller NHANES-Daten aufgebaut werden.…">
            <a:extLst>
              <a:ext uri="{FF2B5EF4-FFF2-40B4-BE49-F238E27FC236}">
                <a16:creationId xmlns:a16="http://schemas.microsoft.com/office/drawing/2014/main" id="{49D739A5-EEE3-74EA-7899-774B4624FE63}"/>
              </a:ext>
            </a:extLst>
          </p:cNvPr>
          <p:cNvSpPr txBox="1"/>
          <p:nvPr/>
        </p:nvSpPr>
        <p:spPr>
          <a:xfrm>
            <a:off x="835698" y="1631340"/>
            <a:ext cx="9954153" cy="1805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140368" indent="-140368" defTabSz="12700">
              <a:lnSpc>
                <a:spcPct val="135000"/>
              </a:lnSpc>
              <a:buSzPct val="100000"/>
              <a:buChar char="•"/>
              <a:defRPr sz="1400"/>
            </a:pPr>
            <a:r>
              <a:rPr dirty="0"/>
              <a:t>Ein Machine-Learning-Modell </a:t>
            </a:r>
            <a:r>
              <a:rPr dirty="0" err="1"/>
              <a:t>konnte</a:t>
            </a:r>
            <a:r>
              <a:rPr dirty="0"/>
              <a:t> </a:t>
            </a:r>
            <a:r>
              <a:rPr dirty="0" err="1"/>
              <a:t>zur</a:t>
            </a:r>
            <a:r>
              <a:rPr dirty="0"/>
              <a:t> </a:t>
            </a:r>
            <a:r>
              <a:rPr dirty="0" err="1"/>
              <a:t>Vorhersage</a:t>
            </a:r>
            <a:r>
              <a:rPr dirty="0"/>
              <a:t> des </a:t>
            </a:r>
            <a:r>
              <a:rPr dirty="0" err="1"/>
              <a:t>Hypertonie</a:t>
            </a:r>
            <a:r>
              <a:rPr dirty="0"/>
              <a:t>-Status auf Basis </a:t>
            </a:r>
            <a:r>
              <a:rPr dirty="0" err="1"/>
              <a:t>individueller</a:t>
            </a:r>
            <a:r>
              <a:rPr dirty="0"/>
              <a:t> NHANES-</a:t>
            </a:r>
            <a:r>
              <a:rPr dirty="0" err="1"/>
              <a:t>Daten</a:t>
            </a:r>
            <a:r>
              <a:rPr dirty="0"/>
              <a:t> </a:t>
            </a:r>
            <a:r>
              <a:rPr dirty="0" err="1"/>
              <a:t>aufgebaut</a:t>
            </a:r>
            <a:r>
              <a:rPr dirty="0"/>
              <a:t> </a:t>
            </a:r>
            <a:r>
              <a:rPr dirty="0" err="1"/>
              <a:t>werden</a:t>
            </a:r>
            <a:r>
              <a:rPr dirty="0"/>
              <a:t>.</a:t>
            </a:r>
          </a:p>
          <a:p>
            <a:pPr marL="140368" indent="-140368" defTabSz="12700">
              <a:lnSpc>
                <a:spcPct val="135000"/>
              </a:lnSpc>
              <a:buSzPct val="100000"/>
              <a:buChar char="•"/>
              <a:defRPr sz="1400"/>
            </a:pPr>
            <a:r>
              <a:rPr dirty="0"/>
              <a:t>Die </a:t>
            </a:r>
            <a:r>
              <a:rPr dirty="0" err="1"/>
              <a:t>logistische</a:t>
            </a:r>
            <a:r>
              <a:rPr dirty="0"/>
              <a:t> Regression </a:t>
            </a:r>
            <a:r>
              <a:rPr dirty="0" err="1"/>
              <a:t>zeigte</a:t>
            </a:r>
            <a:r>
              <a:rPr dirty="0"/>
              <a:t> </a:t>
            </a:r>
            <a:r>
              <a:rPr dirty="0" err="1"/>
              <a:t>sich</a:t>
            </a:r>
            <a:r>
              <a:rPr dirty="0"/>
              <a:t> </a:t>
            </a:r>
            <a:r>
              <a:rPr dirty="0" err="1"/>
              <a:t>als</a:t>
            </a:r>
            <a:r>
              <a:rPr dirty="0"/>
              <a:t> gut </a:t>
            </a:r>
            <a:r>
              <a:rPr dirty="0" err="1"/>
              <a:t>interpretierbares</a:t>
            </a:r>
            <a:r>
              <a:rPr dirty="0"/>
              <a:t> Modell für die </a:t>
            </a:r>
            <a:r>
              <a:rPr dirty="0" err="1"/>
              <a:t>Risikoeinschätzung</a:t>
            </a:r>
            <a:r>
              <a:rPr dirty="0"/>
              <a:t>.</a:t>
            </a:r>
          </a:p>
          <a:p>
            <a:pPr marL="140368" indent="-140368" defTabSz="12700">
              <a:lnSpc>
                <a:spcPct val="135000"/>
              </a:lnSpc>
              <a:buSzPct val="100000"/>
              <a:buChar char="•"/>
              <a:defRPr sz="1400"/>
            </a:pPr>
            <a:r>
              <a:rPr dirty="0" err="1"/>
              <a:t>Besonders</a:t>
            </a:r>
            <a:r>
              <a:rPr dirty="0"/>
              <a:t> </a:t>
            </a:r>
            <a:r>
              <a:rPr b="1" dirty="0"/>
              <a:t>Alter</a:t>
            </a:r>
            <a:r>
              <a:rPr dirty="0"/>
              <a:t> und </a:t>
            </a:r>
            <a:r>
              <a:rPr lang="de-DE" b="1" dirty="0"/>
              <a:t>BMI </a:t>
            </a:r>
            <a:r>
              <a:rPr dirty="0" err="1"/>
              <a:t>hatten</a:t>
            </a:r>
            <a:r>
              <a:rPr dirty="0"/>
              <a:t> </a:t>
            </a:r>
            <a:r>
              <a:rPr dirty="0" err="1"/>
              <a:t>einen</a:t>
            </a:r>
            <a:r>
              <a:rPr dirty="0"/>
              <a:t> starken </a:t>
            </a:r>
            <a:r>
              <a:rPr dirty="0" err="1"/>
              <a:t>Einfluss</a:t>
            </a:r>
            <a:r>
              <a:rPr dirty="0"/>
              <a:t> auf die </a:t>
            </a:r>
            <a:r>
              <a:rPr dirty="0" err="1"/>
              <a:t>Vorhersage</a:t>
            </a:r>
            <a:r>
              <a:rPr dirty="0"/>
              <a:t>.</a:t>
            </a:r>
          </a:p>
          <a:p>
            <a:pPr marL="140368" indent="-140368" defTabSz="12700">
              <a:lnSpc>
                <a:spcPct val="135000"/>
              </a:lnSpc>
              <a:buSzPct val="100000"/>
              <a:buChar char="•"/>
              <a:defRPr sz="1400"/>
            </a:pPr>
            <a:r>
              <a:rPr dirty="0"/>
              <a:t>Durch die </a:t>
            </a:r>
            <a:r>
              <a:rPr dirty="0" err="1"/>
              <a:t>Anpassung</a:t>
            </a:r>
            <a:r>
              <a:rPr dirty="0"/>
              <a:t> des </a:t>
            </a:r>
            <a:r>
              <a:rPr dirty="0" err="1"/>
              <a:t>Schwellenwertes</a:t>
            </a:r>
            <a:r>
              <a:rPr dirty="0"/>
              <a:t> </a:t>
            </a:r>
            <a:r>
              <a:rPr dirty="0" err="1"/>
              <a:t>konnten</a:t>
            </a:r>
            <a:r>
              <a:rPr dirty="0"/>
              <a:t> </a:t>
            </a:r>
            <a:r>
              <a:rPr dirty="0" err="1"/>
              <a:t>mehr</a:t>
            </a:r>
            <a:r>
              <a:rPr dirty="0"/>
              <a:t> </a:t>
            </a:r>
            <a:r>
              <a:rPr dirty="0" err="1"/>
              <a:t>tatsächliche</a:t>
            </a:r>
            <a:r>
              <a:rPr dirty="0"/>
              <a:t> </a:t>
            </a:r>
            <a:r>
              <a:rPr dirty="0" err="1"/>
              <a:t>Hypertonie-Fälle</a:t>
            </a:r>
            <a:r>
              <a:rPr dirty="0"/>
              <a:t> </a:t>
            </a:r>
            <a:r>
              <a:rPr dirty="0" err="1"/>
              <a:t>erkannt</a:t>
            </a:r>
            <a:r>
              <a:rPr dirty="0"/>
              <a:t> </a:t>
            </a:r>
            <a:r>
              <a:rPr dirty="0" err="1"/>
              <a:t>werden</a:t>
            </a:r>
            <a:r>
              <a:rPr dirty="0"/>
              <a:t>.</a:t>
            </a:r>
          </a:p>
          <a:p>
            <a:pPr marL="140368" indent="-140368" defTabSz="12700">
              <a:lnSpc>
                <a:spcPct val="135000"/>
              </a:lnSpc>
              <a:buSzPct val="100000"/>
              <a:buChar char="•"/>
              <a:defRPr sz="1400"/>
            </a:pPr>
            <a:r>
              <a:rPr dirty="0"/>
              <a:t>Das Modell </a:t>
            </a:r>
            <a:r>
              <a:rPr dirty="0" err="1"/>
              <a:t>liefert</a:t>
            </a:r>
            <a:r>
              <a:rPr dirty="0"/>
              <a:t> </a:t>
            </a:r>
            <a:r>
              <a:rPr dirty="0" err="1"/>
              <a:t>eine</a:t>
            </a:r>
            <a:r>
              <a:rPr dirty="0"/>
              <a:t> </a:t>
            </a:r>
            <a:r>
              <a:rPr dirty="0" err="1"/>
              <a:t>datenbasierte</a:t>
            </a:r>
            <a:r>
              <a:rPr dirty="0"/>
              <a:t> </a:t>
            </a:r>
            <a:r>
              <a:rPr dirty="0" err="1"/>
              <a:t>Risikoeinschätzung</a:t>
            </a:r>
            <a:r>
              <a:rPr dirty="0"/>
              <a:t>, </a:t>
            </a:r>
            <a:r>
              <a:rPr dirty="0" err="1"/>
              <a:t>ersetzt</a:t>
            </a:r>
            <a:r>
              <a:rPr dirty="0"/>
              <a:t> </a:t>
            </a:r>
            <a:r>
              <a:rPr dirty="0" err="1"/>
              <a:t>aber</a:t>
            </a:r>
            <a:r>
              <a:rPr dirty="0"/>
              <a:t> </a:t>
            </a:r>
            <a:r>
              <a:rPr dirty="0" err="1"/>
              <a:t>keine</a:t>
            </a:r>
            <a:r>
              <a:rPr dirty="0"/>
              <a:t> </a:t>
            </a:r>
            <a:r>
              <a:rPr dirty="0" err="1"/>
              <a:t>medizinische</a:t>
            </a:r>
            <a:r>
              <a:rPr dirty="0"/>
              <a:t> Diagnose.</a:t>
            </a:r>
          </a:p>
        </p:txBody>
      </p:sp>
      <p:sp>
        <p:nvSpPr>
          <p:cNvPr id="268" name="Foliennummer">
            <a:extLst>
              <a:ext uri="{FF2B5EF4-FFF2-40B4-BE49-F238E27FC236}">
                <a16:creationId xmlns:a16="http://schemas.microsoft.com/office/drawing/2014/main" id="{10C2BCAE-8E2B-8669-3CD8-3382E6E70EC6}"/>
              </a:ext>
            </a:extLst>
          </p:cNvPr>
          <p:cNvSpPr txBox="1">
            <a:spLocks noGrp="1"/>
          </p:cNvSpPr>
          <p:nvPr>
            <p:ph type="sldNum" sz="quarter" idx="4294967295"/>
          </p:nvPr>
        </p:nvSpPr>
        <p:spPr>
          <a:xfrm>
            <a:off x="11567159" y="6473952"/>
            <a:ext cx="202998" cy="19055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a:p>
        </p:txBody>
      </p:sp>
    </p:spTree>
    <p:extLst>
      <p:ext uri="{BB962C8B-B14F-4D97-AF65-F5344CB8AC3E}">
        <p14:creationId xmlns:p14="http://schemas.microsoft.com/office/powerpoint/2010/main" val="366366300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Vielen Dank für Ihre Aufmerksamkeit…"/>
          <p:cNvSpPr txBox="1"/>
          <p:nvPr/>
        </p:nvSpPr>
        <p:spPr>
          <a:xfrm>
            <a:off x="3053841" y="2858187"/>
            <a:ext cx="6084317" cy="1141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b="1">
                <a:solidFill>
                  <a:srgbClr val="212B48"/>
                </a:solidFill>
              </a:defRPr>
            </a:pPr>
            <a:r>
              <a:t>Vielen Dank für Ihre Aufmerksamkeit</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b="1"/>
            </a:pPr>
            <a:endParaRPr/>
          </a:p>
          <a:p>
            <a:pPr algn="ct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i="1"/>
            </a:pPr>
            <a:r>
              <a:t>Wir freuen uns auf Ihre Fragen.</a:t>
            </a:r>
          </a:p>
        </p:txBody>
      </p:sp>
      <p:sp>
        <p:nvSpPr>
          <p:cNvPr id="271" name="Rectangle 19"/>
          <p:cNvSpPr/>
          <p:nvPr/>
        </p:nvSpPr>
        <p:spPr>
          <a:xfrm>
            <a:off x="4029455" y="3494278"/>
            <a:ext cx="4480561" cy="32005"/>
          </a:xfrm>
          <a:prstGeom prst="rect">
            <a:avLst/>
          </a:prstGeom>
          <a:solidFill>
            <a:srgbClr val="158BB8"/>
          </a:solidFill>
          <a:ln w="12700">
            <a:miter lim="400000"/>
          </a:ln>
          <a:effectLst>
            <a:outerShdw blurRad="38100" dist="23000" dir="5400000" rotWithShape="0">
              <a:srgbClr val="000000">
                <a:alpha val="35000"/>
              </a:srgbClr>
            </a:outerShdw>
          </a:effectLst>
        </p:spPr>
        <p:txBody>
          <a:bodyPr lIns="45719" rIns="45719" anchor="ctr"/>
          <a:lstStyle/>
          <a:p>
            <a:pPr algn="ctr" defTabSz="457200">
              <a:defRPr>
                <a:solidFill>
                  <a:srgbClr val="FFFFFF"/>
                </a:solidFill>
                <a:latin typeface="Calibri"/>
                <a:ea typeface="Calibri"/>
                <a:cs typeface="Calibri"/>
                <a:sym typeface="Calibri"/>
              </a:defRPr>
            </a:pPr>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 1"/>
          <p:cNvSpPr txBox="1"/>
          <p:nvPr/>
        </p:nvSpPr>
        <p:spPr>
          <a:xfrm>
            <a:off x="658368" y="566927"/>
            <a:ext cx="8138160" cy="530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 tIns="253" rIns="253" bIns="253" anchor="ctr">
            <a:normAutofit/>
          </a:bodyPr>
          <a:lstStyle>
            <a:lvl1pPr>
              <a:defRPr sz="2700" b="1">
                <a:solidFill>
                  <a:srgbClr val="1E2B4A"/>
                </a:solidFill>
              </a:defRPr>
            </a:lvl1pPr>
          </a:lstStyle>
          <a:p>
            <a:r>
              <a:t>Quellen</a:t>
            </a:r>
          </a:p>
        </p:txBody>
      </p:sp>
      <p:sp>
        <p:nvSpPr>
          <p:cNvPr id="274" name="Bilder:…"/>
          <p:cNvSpPr txBox="1"/>
          <p:nvPr/>
        </p:nvSpPr>
        <p:spPr>
          <a:xfrm>
            <a:off x="805218" y="1397660"/>
            <a:ext cx="10254552" cy="3744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400" b="1">
                <a:solidFill>
                  <a:srgbClr val="212B48"/>
                </a:solidFill>
              </a:defRPr>
            </a:pPr>
            <a:r>
              <a:rPr dirty="0"/>
              <a:t>Bilder:</a:t>
            </a:r>
          </a:p>
          <a:p>
            <a:pPr marL="130342" indent="-130342">
              <a:buSzPct val="100000"/>
              <a:buChar char="•"/>
              <a:defRPr sz="1400"/>
            </a:pPr>
            <a:r>
              <a:rPr dirty="0">
                <a:uFill>
                  <a:solidFill>
                    <a:srgbClr val="0563C1"/>
                  </a:solidFill>
                </a:uFill>
                <a:hlinkClick r:id="rId2"/>
              </a:rPr>
              <a:t>https://www.magnific.com/de/vektoren-premium/hypotonie-hypertonie-krankheit-winziger-kardiologe-der-bluthochdruck-mit-tonometer-misst-arzt-beraet-aeltere-patienten-zu-kardiologischen-erkrankungen-aerztliche-untersuchung-kardiologische-untersuchung_18961593.htm</a:t>
            </a:r>
            <a:endParaRPr lang="de-DE" dirty="0">
              <a:uFill>
                <a:solidFill>
                  <a:srgbClr val="0563C1"/>
                </a:solidFill>
              </a:uFill>
              <a:hlinkClick r:id="rId2"/>
            </a:endParaRPr>
          </a:p>
          <a:p>
            <a:pPr marL="130342" indent="-130342">
              <a:buSzPct val="100000"/>
              <a:buFontTx/>
              <a:buChar char="•"/>
              <a:defRPr sz="1400"/>
            </a:pPr>
            <a:r>
              <a:rPr lang="de-DE" dirty="0">
                <a:hlinkClick r:id="rId3"/>
              </a:rPr>
              <a:t>Essentielle Hypertonie | apo.com Magazin</a:t>
            </a:r>
            <a:endParaRPr lang="de-DE" dirty="0"/>
          </a:p>
          <a:p>
            <a:pPr>
              <a:buSzPct val="100000"/>
              <a:defRPr sz="1400"/>
            </a:pPr>
            <a:endParaRPr dirty="0">
              <a:uFill>
                <a:solidFill>
                  <a:srgbClr val="0563C1"/>
                </a:solidFill>
              </a:uFill>
              <a:hlinkClick r:id="rId2"/>
            </a:endParaRPr>
          </a:p>
          <a:p>
            <a:pPr>
              <a:defRPr sz="1400"/>
            </a:pPr>
            <a:endParaRPr dirty="0">
              <a:uFill>
                <a:solidFill>
                  <a:srgbClr val="0563C1"/>
                </a:solidFill>
              </a:uFill>
              <a:hlinkClick r:id="rId2"/>
            </a:endParaRPr>
          </a:p>
          <a:p>
            <a:pPr>
              <a:defRPr sz="1400"/>
            </a:pPr>
            <a:endParaRPr dirty="0">
              <a:uFill>
                <a:solidFill>
                  <a:srgbClr val="0563C1"/>
                </a:solidFill>
              </a:uFill>
              <a:hlinkClick r:id="rId2"/>
            </a:endParaRPr>
          </a:p>
          <a:p>
            <a:pPr>
              <a:defRPr sz="1400" b="1">
                <a:solidFill>
                  <a:srgbClr val="212B48"/>
                </a:solidFill>
              </a:defRPr>
            </a:pPr>
            <a:r>
              <a:rPr dirty="0" err="1"/>
              <a:t>Daten</a:t>
            </a:r>
            <a:r>
              <a:rPr dirty="0"/>
              <a:t>:</a:t>
            </a:r>
          </a:p>
          <a:p>
            <a:pPr marL="130342" indent="-130342">
              <a:buSzPct val="100000"/>
              <a:buChar char="•"/>
              <a:defRPr sz="1400"/>
            </a:pPr>
            <a:r>
              <a:rPr dirty="0"/>
              <a:t>https://ourworldindata.org/grapher/hypertension-adults-30-79.csv</a:t>
            </a:r>
          </a:p>
          <a:p>
            <a:pPr marL="140368" indent="-140368" defTabSz="12700">
              <a:lnSpc>
                <a:spcPct val="135000"/>
              </a:lnSpc>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pPr>
            <a:r>
              <a:rPr dirty="0">
                <a:uFill>
                  <a:solidFill>
                    <a:srgbClr val="0563C1"/>
                  </a:solidFill>
                </a:uFill>
                <a:hlinkClick r:id="rId4"/>
              </a:rPr>
              <a:t>https://ourworldindata.org/grapher/women-high-blood-pressure.csv</a:t>
            </a:r>
          </a:p>
          <a:p>
            <a:pPr marL="140368" indent="-140368" defTabSz="12700">
              <a:lnSpc>
                <a:spcPct val="135000"/>
              </a:lnSpc>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pPr>
            <a:r>
              <a:rPr dirty="0"/>
              <a:t>https://ourworldindata.org/grapher/male-high-blood-pressure.csv</a:t>
            </a:r>
          </a:p>
          <a:p>
            <a:pPr marL="140368" indent="-140368" defTabSz="12700">
              <a:lnSpc>
                <a:spcPct val="135000"/>
              </a:lnSpc>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pPr>
            <a:r>
              <a:rPr dirty="0">
                <a:hlinkClick r:id="rId5"/>
              </a:rPr>
              <a:t>https://ourworldindata.org/grapher/death-rate-from-hypertensive-heart-disease-who-ghe-age-standardized.csv</a:t>
            </a:r>
            <a:endParaRPr lang="de-DE" dirty="0"/>
          </a:p>
          <a:p>
            <a:pPr marL="140368" indent="-140368" defTabSz="12700">
              <a:lnSpc>
                <a:spcPct val="135000"/>
              </a:lnSpc>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pPr>
            <a:r>
              <a:rPr lang="de-DE" dirty="0">
                <a:hlinkClick r:id="rId6"/>
              </a:rPr>
              <a:t>Hypertension </a:t>
            </a:r>
            <a:r>
              <a:rPr lang="de-DE" dirty="0" err="1">
                <a:hlinkClick r:id="rId6"/>
              </a:rPr>
              <a:t>report</a:t>
            </a:r>
            <a:endParaRPr lang="de-DE" dirty="0"/>
          </a:p>
          <a:p>
            <a:pPr marL="140368" indent="-140368" defTabSz="12700">
              <a:lnSpc>
                <a:spcPct val="135000"/>
              </a:lnSpc>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pPr>
            <a:endParaRPr dirty="0"/>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7FAFC"/>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1676</Words>
  <Application>Microsoft Office PowerPoint</Application>
  <PresentationFormat>Breitbild</PresentationFormat>
  <Paragraphs>254</Paragraphs>
  <Slides>21</Slides>
  <Notes>16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21</vt:i4>
      </vt:variant>
    </vt:vector>
  </HeadingPairs>
  <TitlesOfParts>
    <vt:vector size="25" baseType="lpstr">
      <vt:lpstr>Arial</vt:lpstr>
      <vt:lpstr>Helvetica Neue</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Mahshid Moghaddam</dc:creator>
  <cp:lastModifiedBy>Mahshid Ghasempour Moghaddam</cp:lastModifiedBy>
  <cp:revision>7</cp:revision>
  <dcterms:modified xsi:type="dcterms:W3CDTF">2026-06-26T14:07:23Z</dcterms:modified>
</cp:coreProperties>
</file>